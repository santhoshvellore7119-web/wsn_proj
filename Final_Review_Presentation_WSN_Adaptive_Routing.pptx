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professors and members of the panel. </a:t>
            </a:r>
          </a:p>
          <a:p>
            <a:r>
              <a:t>Today, my teammates Thilang, Ananthakrishnan, and I, Santhosh, are excited to present our Final Capstone Defense on 'Adaptive Routing in Energy-Harvesting Wireless Sensor Networks'.</a:t>
            </a:r>
          </a:p>
          <a:p>
            <a:r>
              <a:t>Let me start with a simple real-life analogy: if you know your phone has only 5% battery, but you're plugging it into a fast charger right now, you wouldn't throw it away.</a:t>
            </a:r>
          </a:p>
          <a:p>
            <a:r>
              <a:t>Yet for over 20 years, standard sensor network routing algorithms have been doing exactly that - rejecting nodes that are actively recharging because they only look at a static snapshot of the past.</a:t>
            </a:r>
          </a:p>
          <a:p>
            <a:r>
              <a:t>In this project, we designed, built, and verified a complete DSA and software framework that teaches routing to look ahead in time, fixes mid-flight relay deaths on the fly, and exposes hidden radio physics that standard textbooks miss.</a:t>
            </a:r>
          </a:p>
          <a:p>
            <a:r>
              <a:t>We will now walk you through the problem, our algorithms, the codebase, and our empirical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summarize the entire motivation in 60 seconds.</a:t>
            </a:r>
          </a:p>
          <a:p>
            <a:r>
              <a:t>In classical sensor networks, battery energy only goes in one direction: down. But modern environmental sensors have solar cells. </a:t>
            </a:r>
          </a:p>
          <a:p>
            <a:r>
              <a:t>Data packets take time to travel across hops. A relay node that has only 5% battery right now might be in bright morning sun and reach 40% by the time our packet actually arrives two hops later.</a:t>
            </a:r>
          </a:p>
          <a:p>
            <a:r>
              <a:t>Dijkstra looks at the 5% snapshot, labels it dangerous, and forces a wasteful 4-hop detour around it.</a:t>
            </a:r>
          </a:p>
          <a:p>
            <a:r>
              <a:t>We solved this using fundamental computer science: a 3D Dynamic Programming algorithm that looks ahead in time, and an instant Union-Find detour algorithm that repairs mid-flight failures in less than a millisecond.</a:t>
            </a:r>
          </a:p>
          <a:p>
            <a:r>
              <a:t>Our whole system runs in under 48 KB of RAM and is backed by 68 passing unit tests.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breaks down the two biggest mistakes standard routing algorithms make in solar networks.</a:t>
            </a:r>
          </a:p>
          <a:p>
            <a:r>
              <a:t>First is 'The False Alarm': imagine skipping a bus stop because the bus hasn't arrived yet, even though it's pulling up right in front of you. That's what Dijkstra does to recharging nodes. It sees low battery at t=0 and takes a long detour, ignoring that the node is actively recharging.</a:t>
            </a:r>
          </a:p>
          <a:p>
            <a:r>
              <a:t>Second is 'The Shaded Trap': a node under a mango tree starts at 80% battery. Dijkstra thinks it's healthy, routes all traffic through it, and drains it to zero, splitting the network in half.</a:t>
            </a:r>
          </a:p>
          <a:p>
            <a:r>
              <a:t>And why not just use Deep Learning? Because an IoT sensor has 4 to 48 KB of RAM. A neural network model takes megabytes! We solved this using pure, efficient algorithms.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summarizes what we learned from surveying 9 key research papers published between 2020 and 2025 across IEEE, ACM, and MDPI.</a:t>
            </a:r>
          </a:p>
          <a:p>
            <a:r>
              <a:t>We noticed three major issues:</a:t>
            </a:r>
          </a:p>
          <a:p>
            <a:r>
              <a:t>First, authors like Han et al. in MDPI Sensors weighted cluster heads by solar power, but assumed packets arrive instantaneously, completely ignoring multi-hop delay.</a:t>
            </a:r>
          </a:p>
          <a:p>
            <a:r>
              <a:t>Second, authors like Tan et al. in ACM used time-expanded graphs, but solved them with Integer Linear Programming - which is an offline solver that cannot run on a real sensor node in a field.</a:t>
            </a:r>
          </a:p>
          <a:p>
            <a:r>
              <a:t>Third, authors like Aref in IEEE used Deep Reinforcement Learning. But their neural network models require over 1 megabyte of memory, which completely overflows the 4 to 10 kilobytes of RAM on real sensor motes.</a:t>
            </a:r>
          </a:p>
          <a:p>
            <a:r>
              <a:t>Our project bridges this gap: a practical, distributed algorithm that runs in under 48 kilobytes of RAM.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covers the physical radio hardware modeled in src/energy_model.py.</a:t>
            </a:r>
          </a:p>
          <a:p>
            <a:r>
              <a:t>Rather than assuming radio transmission is just a magic unit number, we implemented Heinzelman's first-order radio model, which is the gold standard for Texas Instruments CC2420 transceiver motes.</a:t>
            </a:r>
          </a:p>
          <a:p>
            <a:r>
              <a:t>Notice two key things:</a:t>
            </a:r>
          </a:p>
          <a:p>
            <a:r>
              <a:t>First, the crossover distance d0 is 87.7 meters. Below 87.7 meters, power loss scales with distance squared. Beyond that, it steepens to distance to the 4th power.</a:t>
            </a:r>
          </a:p>
          <a:p>
            <a:r>
              <a:t>Second, look at the receiver tax Erx: every time an intermediate relay receives a 4000-bit packet, it burns 0.200 millijoules just powering its listening radio. As we will show later, this receiver tax completely changes whether multi-hop relaying is worthwhile.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shows how we simulate the real physical environment in src/harvesting_model.py.</a:t>
            </a:r>
          </a:p>
          <a:p>
            <a:r>
              <a:t>We didn't just assume constant battery power. We implemented four realistic environmental scenarios:</a:t>
            </a:r>
          </a:p>
          <a:p>
            <a:r>
              <a:t>First, a 24-hour diurnal solar cycle where power peaks at noon and drops to zero at night.</a:t>
            </a:r>
          </a:p>
          <a:p>
            <a:r>
              <a:t>Second, tree canopy shadowing: in an agricultural field or forest, nodes under trees receive only 10% of the sunlight.</a:t>
            </a:r>
          </a:p>
          <a:p>
            <a:r>
              <a:t>Third, a Poisson arrival process modeling sporadic energy bursts like indoor lighting or vibration.</a:t>
            </a:r>
          </a:p>
          <a:p>
            <a:r>
              <a:t>And fourth, real meteorological trace replays using recorded 24-hour solar datasets under clear, cloudy, and overcast conditions.</a:t>
            </a:r>
          </a:p>
          <a:p>
            <a:r>
              <a:t>This tests our algorithms under genuine weather variance.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explains our core algorithm: 3D Time-Augmented Dynamic Programming in src/dp_lifetime.py.</a:t>
            </a:r>
          </a:p>
          <a:p>
            <a:r>
              <a:t>Here is the intuition: instead of checking whether a node has energy right now at round start, we project its energy forward in time to the exact moment the packet arrives.</a:t>
            </a:r>
          </a:p>
          <a:p>
            <a:r>
              <a:t>Our state space is 3-dimensional: node v, hop count h, and arrival time t.</a:t>
            </a:r>
          </a:p>
          <a:p>
            <a:r>
              <a:t>Look at the formula: dp[v][h][t] evaluates candidate predecessor u, but evaluates node v's energy using E_proj, which adds the solar recharge expected during transit minus the receiver tax Erx.</a:t>
            </a:r>
          </a:p>
          <a:p>
            <a:r>
              <a:t>Because time moves forward, the state graph is a DAG with no loops. It runs in strictly polynomial time O(|E|HT), taking only 5.2 milliseconds and under 48 kilobytes of RAM.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presents Algorithm 2 in src/routing.py: DSU Live Detour Recovery.</a:t>
            </a:r>
          </a:p>
          <a:p>
            <a:r>
              <a:t>In real life, a sensor node can brown out while a packet is mid-air. </a:t>
            </a:r>
          </a:p>
          <a:p>
            <a:r>
              <a:t>If we drop the packet, all the battery spent moving it across the first three hops is wasted. But if we rerun global Dynamic Programming, it takes over 5 milliseconds and causes a huge lag spike.</a:t>
            </a:r>
          </a:p>
          <a:p>
            <a:r>
              <a:t>Think of our solution like a GPS that finds a local detour when a bridge is closed. Predecessor node u simply queries its immediate neighbors to check who is already connected to the Base Station component using Union-Find.</a:t>
            </a:r>
          </a:p>
          <a:p>
            <a:r>
              <a:t>This local check runs in 0.85 milliseconds - 6.02 times faster - achieving 100% packet delivery with zero global recalculation overhead.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covers Algorithm 3: Solar-Weighted Dynamic Clustering (EH-LEACH) in src/clustering.py.</a:t>
            </a:r>
          </a:p>
          <a:p>
            <a:r>
              <a:t>Standard LEACH picks cluster heads by flipping a random coin. But being a cluster head requires heavy work: collecting readings from 10 nodes, fusing the data, and transmitting long-range uplinks to the base station.</a:t>
            </a:r>
          </a:p>
          <a:p>
            <a:r>
              <a:t>If a sensor under a tree gets picked, it collapses in one round.</a:t>
            </a:r>
          </a:p>
          <a:p>
            <a:r>
              <a:t>Our formula weights the election probability by the node's solar and battery ratio: (E_n + beta * H_n) / (E_avg + beta * H_avg).</a:t>
            </a:r>
          </a:p>
          <a:p>
            <a:r>
              <a:t>Nodes in open sunlight get picked 2.4 times more frequently, taking on the heavy work, while shaded sensors rest as low-power leaf nodes.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addresses real-world partial observability in src/energy_view.py.</a:t>
            </a:r>
          </a:p>
          <a:p>
            <a:r>
              <a:t>Sensors cannot transmit telemetry reports every minute; transmitting the report itself drains battery. So the router must maintain a belief state.</a:t>
            </a:r>
          </a:p>
          <a:p>
            <a:r>
              <a:t>Most papers use Kalman filters with Gaussian noise. But batteries have hard physical boundaries: they cannot drop below 0 Joules or exceed 0.5 Joules. Gaussian tails create severe errors at these boundaries.</a:t>
            </a:r>
          </a:p>
          <a:p>
            <a:r>
              <a:t>We implement a 24-bin discrete histogram filter with exact boundary mass clipping: mass below zero goes into bin 0 (brownout probability), and mass above E_max clips into bin 23 (saturation).</a:t>
            </a:r>
          </a:p>
          <a:p>
            <a:r>
              <a:t>Our Max-Product DP maximizes the sum of log-probabilities across the route, choosing paths with the highest mathematical confidence of end-to-end survival.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reviews our software architecture.</a:t>
            </a:r>
          </a:p>
          <a:p>
            <a:r>
              <a:t>We followed strict software engineering standards to ensure modularity.</a:t>
            </a:r>
          </a:p>
          <a:p>
            <a:r>
              <a:t>The project is divided into three completely decoupled tiers:</a:t>
            </a:r>
          </a:p>
          <a:p>
            <a:r>
              <a:t>Tier 1 in src/ is the pure algorithmic engine. It has zero GUI dependencies and can run headlessly in batch sweeps or be compiled to C for embedded deployment.</a:t>
            </a:r>
          </a:p>
          <a:p>
            <a:r>
              <a:t>Tier 2 in backend/ is a FastAPI REST API that persists simulation histories to an embedded SQLite database.</a:t>
            </a:r>
          </a:p>
          <a:p>
            <a:r>
              <a:t>Tier 3 in frontend/ is a React 19 research dashboard providing interactive visualization.</a:t>
            </a:r>
          </a:p>
          <a:p>
            <a:r>
              <a:t>Total verified code volume exceeds 4,000 lines, anchored by 15 pytest test suites.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12, we inspect the actual Python implementation from src/dp_lifetime.py and src/routing.py.</a:t>
            </a:r>
          </a:p>
          <a:p>
            <a:r>
              <a:t>On the left is compute_time_augmented_dp. Notice how clean the loop is: it iterates over hops h and arrival time t = h * delta_t.</a:t>
            </a:r>
          </a:p>
          <a:p>
            <a:r>
              <a:t>The feasibility check prev_e &lt; cost_tx prunes infeasible paths immediately.</a:t>
            </a:r>
          </a:p>
          <a:p>
            <a:r>
              <a:t>Then, notice line proj_v = network.project_energy(v, t) - E_rx: this is where the magic happens. It evaluates the candidate node's energy at arrival time t, taking into account both expected solar intake and reception dissipation.</a:t>
            </a:r>
          </a:p>
          <a:p>
            <a:r>
              <a:t>On the right is repair_route_dsu. Using Union-Find with path compression and rank, it queries dsu.find(b) == bs_root. This check takes amortized O(alpha(V)) time, allowing predecessor u to instantly splice a viable bridge node without triggering global network recalculation.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demonstrates our full-stack web application built using React 19, TypeScript, and Tailwind CSS.</a:t>
            </a:r>
          </a:p>
          <a:p>
            <a:r>
              <a:t>On the left is Figure 1: the Interactive Network Topology Visualizer. It renders all 50 sensor motes in real-time on an SVG canvas. Nodes change color dynamically: bright green when their batteries are saturated by sun, amber when they are carrying heavy relay traffic, and red if they brown out. Directed vector arrows show the exact forwarding paths to the Base Station.</a:t>
            </a:r>
          </a:p>
          <a:p>
            <a:r>
              <a:t>On the right is Figure 2: the Playback Scrubber. It allows evaluators to step through rounds one by one or play them back at up to 10x speed. This lets researchers visually inspect exactly how routes shift as the sun moves across the sky.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showcases the spatial heatmap and telemetry drawer.</a:t>
            </a:r>
          </a:p>
          <a:p>
            <a:r>
              <a:t>Figure 3 on the left shows the 2D Spatial Energy Heatmap. Bright teal regions indicate sunlit areas where batteries are saturated. Dark purple regions highlight canopy shadows or relays undergoing heavy drainage. This allows researchers to see impending bottlenecks before a disconnection actually happens.</a:t>
            </a:r>
          </a:p>
          <a:p>
            <a:r>
              <a:t>Figure 4 on the right shows the Analytics Drawer built with Recharts. It graphs four vital metrics in real-time: First Node Death (FND), total network residual energy, Packet Delivery Ratio (PDR), and Jain's Fairness Index.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shows our automated testing suite.</a:t>
            </a:r>
          </a:p>
          <a:p>
            <a:r>
              <a:t>We didn't just write code and hope it works. We built a 15-file test suite with 68 automated unit tests.</a:t>
            </a:r>
          </a:p>
          <a:p>
            <a:r>
              <a:t>As shown on the left terminal capture, all 68 tests pass in 4.72 seconds.</a:t>
            </a:r>
          </a:p>
          <a:p>
            <a:r>
              <a:t>These tests verify that our radio formulas match real physics, that our 5-node proof behaves as predicted, that DSU sustains a 100% packet delivery ratio during failures, and that our histogram probability mass never leaks.</a:t>
            </a:r>
          </a:p>
          <a:p>
            <a:r>
              <a:t>This gives us total confidence in the software's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details our deterministic 5-node proof from run_counterexample.py.</a:t>
            </a:r>
          </a:p>
          <a:p>
            <a:r>
              <a:t>To prove our algorithmic advantage without statistical noise, we constructed a minimal 5-node topology: Source S must choose between Relay A and Relay B to reach the Base Station.</a:t>
            </a:r>
          </a:p>
          <a:p>
            <a:r>
              <a:t>Relay A has 0.030 J but zero harvest. Relay B has only 0.005 J, but harvests +0.035 J per step.</a:t>
            </a:r>
          </a:p>
          <a:p>
            <a:r>
              <a:t>Look at the table: Dijkstra, Energy-Aware Dijkstra, and Classical Maximin DP all choose Relay A because they only look at the t=0 snapshot. After 15 rounds, Relay A runs out of energy and the network dies.</a:t>
            </a:r>
          </a:p>
          <a:p>
            <a:r>
              <a:t>Our Time-Augmented DP looks ahead to arrival time t=1, correctly computes that Relay B will reach 0.040 Joules, and routes through Relay B. The network survives indefinitely. This proves our claim beyond doubt.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highlights our DSU live detour benchmark from run_dsu_benchmark.py.</a:t>
            </a:r>
          </a:p>
          <a:p>
            <a:r>
              <a:t>We injected random relay deaths mid-transmission at rates between 10% and 30%.</a:t>
            </a:r>
          </a:p>
          <a:p>
            <a:r>
              <a:t>Without DSU, the network either drops the packet or must rerun the full 3D Dynamic Programming table from scratch, which takes 5.12 milliseconds.</a:t>
            </a:r>
          </a:p>
          <a:p>
            <a:r>
              <a:t>With our local DSU detour algorithm, the predecessor node executes a bridge splice in only 0.85 milliseconds. That is a 6.02x latency reduction.</a:t>
            </a:r>
          </a:p>
          <a:p>
            <a:r>
              <a:t>Furthermore, the Packet Delivery Ratio was sustained at 100%, proving that local graph partition data structures are ideal for embedded wireless networks.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presents our most interesting scientific discovery: the Electronic Reception Penalty trade-off.</a:t>
            </a:r>
          </a:p>
          <a:p>
            <a:r>
              <a:t>Most students and textbooks assume that multi-hop is always better. But look at the math on the left:</a:t>
            </a:r>
          </a:p>
          <a:p>
            <a:r>
              <a:t>Transmitting directly over 60 meters costs 0.344 millijoules.</a:t>
            </a:r>
          </a:p>
          <a:p>
            <a:r>
              <a:t>Splitting that into two 30-meter hops requires 0.472 millijoules of transmission plus 0.200 millijoules of receiver dissipation Erx. That totals 0.672 millijoules - nearly double the direct cost!</a:t>
            </a:r>
          </a:p>
          <a:p>
            <a:r>
              <a:t>This reveals that multi-hop routing actually wastes network energy unless the link spans into the d^4 multipath fading regime beyond 87.7 meters, or unless the relay is receiving surplus solar energy.</a:t>
            </a:r>
          </a:p>
          <a:p>
            <a:r>
              <a:t>Our Time-DP router is one of the few algorithms that explicitly incorporates Erx into its recurrence, preventing wasteful relay detours.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establishes our mathematical foundations through two formal theorems.</a:t>
            </a:r>
          </a:p>
          <a:p>
            <a:r>
              <a:t>Theorem 1 proves Bellman Optimality. Because every hop in our time-expanded state space increments time by at least one slot, the state graph is a Directed Acyclic Graph (DAG) with no cycles. The min-operator preserves optimal substructure, guaranteeing global maximin optimality.</a:t>
            </a:r>
          </a:p>
          <a:p>
            <a:r>
              <a:t>Theorem 2 establishes a 2-epsilon approximation bound under bounded harvest forecasting errors. Even if actual solar intake varies by +/- epsilon, our polynomial DP guarantees a realized bottleneck within 2-epsilon of an omniscient offline oracle with perfect foresight.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summarizes our completed deliverables and future roadmap.</a:t>
            </a:r>
          </a:p>
          <a:p>
            <a:r>
              <a:t>All five major project milestones are 100% complete and fully verified.</a:t>
            </a:r>
          </a:p>
          <a:p>
            <a:r>
              <a:t>Looking forward, our publication blueprint targets IEEE Sensors Journal or Elsevier Ad Hoc Networks. The paper will present our 3D Time-Augmented DP, our 6.02x DSU detour speedup, and our empirical findings regarding receiver dissipation Erx.</a:t>
            </a:r>
          </a:p>
          <a:p>
            <a:r>
              <a:t>We also plan to port the core C/C++ algorithms onto real ESP32 and MicaZ motes for physical testbed validation.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respected professors and members of the panel, for your time and guidance throughout this project.</a:t>
            </a:r>
          </a:p>
          <a:p>
            <a:r>
              <a:t>To conclude, our work bridges theoretical computer science with the practical reality of solar-powered wireless networks:</a:t>
            </a:r>
          </a:p>
          <a:p>
            <a:r>
              <a:t>1. 3D Time-Augmented Dynamic Programming eliminates the False Alarm flaw of rejecting recharging nodes.</a:t>
            </a:r>
          </a:p>
          <a:p>
            <a:r>
              <a:t>2. Disjoint-Set Union local detours deliver a 6.02x latency speedup during in-flight failures with zero dropped packets.</a:t>
            </a:r>
          </a:p>
          <a:p>
            <a:r>
              <a:t>3. Our first-order radio modeling discovered the critical role of electronic reception dissipation Erx.</a:t>
            </a:r>
          </a:p>
          <a:p>
            <a:r>
              <a:t>4. And our full-stack React 19 and FastAPI platform makes the entire framework interactive, verifiable, and reproducible.</a:t>
            </a:r>
          </a:p>
          <a:p>
            <a:r>
              <a:t>We are now ready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3931920" cy="365760"/>
          </a:xfrm>
          <a:prstGeom prst="roundRect">
            <a:avLst/>
          </a:prstGeom>
          <a:solidFill>
            <a:srgbClr val="112240"/>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D9488"/>
                </a:solidFill>
                <a:latin typeface="Calibri"/>
              </a:defRPr>
            </a:pPr>
            <a:r>
              <a:t>CAPSTONE FINAL DEFENSE &amp; PROJECT REVIEW</a:t>
            </a:r>
          </a:p>
        </p:txBody>
      </p:sp>
      <p:sp>
        <p:nvSpPr>
          <p:cNvPr id="4" name="TextBox 3"/>
          <p:cNvSpPr txBox="1"/>
          <p:nvPr/>
        </p:nvSpPr>
        <p:spPr>
          <a:xfrm>
            <a:off x="914400" y="1463040"/>
            <a:ext cx="10362895" cy="2011680"/>
          </a:xfrm>
          <a:prstGeom prst="rect">
            <a:avLst/>
          </a:prstGeom>
          <a:noFill/>
        </p:spPr>
        <p:txBody>
          <a:bodyPr wrap="square">
            <a:spAutoFit/>
          </a:bodyPr>
          <a:lstStyle/>
          <a:p>
            <a:pPr>
              <a:defRPr sz="3600" b="1">
                <a:solidFill>
                  <a:srgbClr val="FFFFFF"/>
                </a:solidFill>
                <a:latin typeface="Calibri"/>
              </a:defRPr>
            </a:pPr>
            <a:r>
              <a:t>Adaptive Routing in Energy-Harvesting</a:t>
            </a:r>
            <a:br/>
            <a:r>
              <a:t>Wireless Sensor Networks</a:t>
            </a:r>
          </a:p>
          <a:p>
            <a:pPr>
              <a:spcBef>
                <a:spcPts val="800"/>
              </a:spcBef>
              <a:defRPr sz="1500">
                <a:solidFill>
                  <a:srgbClr val="94A3B8"/>
                </a:solidFill>
                <a:latin typeface="Calibri"/>
              </a:defRPr>
            </a:pPr>
            <a:r>
              <a:t>Teaching sensor networks to look ahead in time, anticipate solar recharge, and recover from failures on the fly.</a:t>
            </a:r>
          </a:p>
        </p:txBody>
      </p:sp>
      <p:sp>
        <p:nvSpPr>
          <p:cNvPr id="5" name="Rounded Rectangle 4"/>
          <p:cNvSpPr/>
          <p:nvPr/>
        </p:nvSpPr>
        <p:spPr>
          <a:xfrm>
            <a:off x="914400" y="3931920"/>
            <a:ext cx="324612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400" b="1">
                <a:solidFill>
                  <a:srgbClr val="FFFFFF"/>
                </a:solidFill>
                <a:latin typeface="Calibri"/>
              </a:defRPr>
            </a:pPr>
            <a:r>
              <a:t>Santhosh G</a:t>
            </a:r>
          </a:p>
          <a:p>
            <a:pPr>
              <a:spcAft>
                <a:spcPts val="400"/>
              </a:spcAft>
              <a:defRPr sz="1100" b="1">
                <a:solidFill>
                  <a:srgbClr val="0D9488"/>
                </a:solidFill>
                <a:latin typeface="Calibri"/>
              </a:defRPr>
            </a:pPr>
            <a:r>
              <a:t>Reg No: 25BEL0016</a:t>
            </a:r>
          </a:p>
          <a:p>
            <a:pPr>
              <a:defRPr sz="950">
                <a:solidFill>
                  <a:srgbClr val="CBD5E1"/>
                </a:solidFill>
                <a:latin typeface="Calibri"/>
              </a:defRPr>
            </a:pPr>
            <a:r>
              <a:t>3D Lookahead DP (dp[v][h][t])</a:t>
            </a:r>
            <a:br/>
            <a:r>
              <a:t>24-Bin Belief Filter &amp; Sim Core</a:t>
            </a:r>
          </a:p>
        </p:txBody>
      </p:sp>
      <p:sp>
        <p:nvSpPr>
          <p:cNvPr id="6" name="Rounded Rectangle 5"/>
          <p:cNvSpPr/>
          <p:nvPr/>
        </p:nvSpPr>
        <p:spPr>
          <a:xfrm>
            <a:off x="4471416" y="3931920"/>
            <a:ext cx="324612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400" b="1">
                <a:solidFill>
                  <a:srgbClr val="FFFFFF"/>
                </a:solidFill>
                <a:latin typeface="Calibri"/>
              </a:defRPr>
            </a:pPr>
            <a:r>
              <a:t>Thilang T V</a:t>
            </a:r>
          </a:p>
          <a:p>
            <a:pPr>
              <a:spcAft>
                <a:spcPts val="400"/>
              </a:spcAft>
              <a:defRPr sz="1100" b="1">
                <a:solidFill>
                  <a:srgbClr val="0D9488"/>
                </a:solidFill>
                <a:latin typeface="Calibri"/>
              </a:defRPr>
            </a:pPr>
            <a:r>
              <a:t>Reg No: 25BEL0036</a:t>
            </a:r>
          </a:p>
          <a:p>
            <a:pPr>
              <a:defRPr sz="950">
                <a:solidFill>
                  <a:srgbClr val="CBD5E1"/>
                </a:solidFill>
                <a:latin typeface="Calibri"/>
              </a:defRPr>
            </a:pPr>
            <a:r>
              <a:t>Live DSU Detour Recovery</a:t>
            </a:r>
            <a:br/>
            <a:r>
              <a:t>FastAPI REST Backend &amp; React 19 UI</a:t>
            </a:r>
          </a:p>
        </p:txBody>
      </p:sp>
      <p:sp>
        <p:nvSpPr>
          <p:cNvPr id="7" name="Rounded Rectangle 6"/>
          <p:cNvSpPr/>
          <p:nvPr/>
        </p:nvSpPr>
        <p:spPr>
          <a:xfrm>
            <a:off x="8028432" y="3931920"/>
            <a:ext cx="324612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400" b="1">
                <a:solidFill>
                  <a:srgbClr val="FFFFFF"/>
                </a:solidFill>
                <a:latin typeface="Calibri"/>
              </a:defRPr>
            </a:pPr>
            <a:r>
              <a:t>Ananthakrishnan R</a:t>
            </a:r>
          </a:p>
          <a:p>
            <a:pPr>
              <a:spcAft>
                <a:spcPts val="400"/>
              </a:spcAft>
              <a:defRPr sz="1100" b="1">
                <a:solidFill>
                  <a:srgbClr val="0D9488"/>
                </a:solidFill>
                <a:latin typeface="Calibri"/>
              </a:defRPr>
            </a:pPr>
            <a:r>
              <a:t>Reg No: 25BEL0005</a:t>
            </a:r>
          </a:p>
          <a:p>
            <a:pPr>
              <a:defRPr sz="950">
                <a:solidFill>
                  <a:srgbClr val="CBD5E1"/>
                </a:solidFill>
                <a:latin typeface="Calibri"/>
              </a:defRPr>
            </a:pPr>
            <a:r>
              <a:t>Heinzelman Radio Physics</a:t>
            </a:r>
            <a:br/>
            <a:r>
              <a:t>Solar Harvesting Profiles &amp; Pytest Suite</a:t>
            </a:r>
          </a:p>
        </p:txBody>
      </p:sp>
      <p:sp>
        <p:nvSpPr>
          <p:cNvPr id="8" name="TextBox 7"/>
          <p:cNvSpPr txBox="1"/>
          <p:nvPr/>
        </p:nvSpPr>
        <p:spPr>
          <a:xfrm>
            <a:off x="914400" y="5943600"/>
            <a:ext cx="10362895" cy="457200"/>
          </a:xfrm>
          <a:prstGeom prst="rect">
            <a:avLst/>
          </a:prstGeom>
          <a:noFill/>
        </p:spPr>
        <p:txBody>
          <a:bodyPr wrap="none">
            <a:spAutoFit/>
          </a:bodyPr>
          <a:lstStyle/>
          <a:p>
            <a:pPr>
              <a:defRPr sz="1000">
                <a:solidFill>
                  <a:srgbClr val="94A3B8"/>
                </a:solidFill>
                <a:latin typeface="Calibri"/>
              </a:defRPr>
            </a:pPr>
            <a:r>
              <a:t>Department of Electrical &amp; Computer Science Engineering  |  Vellore Institute of Technology (VIT), Vellore  |  GitHub: WSN_proj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THE ELEVATOR PITCH</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The Big Idea: What Happens When Sensors Recharge Themselves?</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2 / 21</a:t>
            </a:r>
          </a:p>
        </p:txBody>
      </p:sp>
      <p:sp>
        <p:nvSpPr>
          <p:cNvPr id="7" name="Rounded Rectangle 6"/>
          <p:cNvSpPr/>
          <p:nvPr/>
        </p:nvSpPr>
        <p:spPr>
          <a:xfrm>
            <a:off x="731520" y="1463040"/>
            <a:ext cx="521208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3657600"/>
          </a:xfrm>
          <a:prstGeom prst="rect">
            <a:avLst/>
          </a:prstGeom>
          <a:noFill/>
        </p:spPr>
        <p:txBody>
          <a:bodyPr wrap="square">
            <a:spAutoFit/>
          </a:bodyPr>
          <a:lstStyle/>
          <a:p>
            <a:pPr>
              <a:spcAft>
                <a:spcPts val="800"/>
              </a:spcAft>
              <a:defRPr sz="1400" b="1">
                <a:solidFill>
                  <a:srgbClr val="0F172A"/>
                </a:solidFill>
                <a:latin typeface="Calibri"/>
              </a:defRPr>
            </a:pPr>
            <a:r>
              <a:t>The Old Rule vs. The Solar Reality</a:t>
            </a:r>
          </a:p>
          <a:p>
            <a:pPr>
              <a:spcAft>
                <a:spcPts val="600"/>
              </a:spcAft>
            </a:pPr>
            <a:r>
              <a:rPr sz="1100" b="1">
                <a:solidFill>
                  <a:srgbClr val="0F172A"/>
                </a:solidFill>
                <a:latin typeface="Calibri"/>
              </a:rPr>
              <a:t>The AA Battery Assumption: </a:t>
            </a:r>
            <a:r>
              <a:rPr sz="1100">
                <a:solidFill>
                  <a:srgbClr val="0F172A"/>
                </a:solidFill>
                <a:latin typeface="Calibri"/>
              </a:rPr>
              <a:t>For decades, sensor protocols assumed battery power only drains down. When energy hits zero, the node is dead forever.</a:t>
            </a:r>
          </a:p>
          <a:p>
            <a:pPr>
              <a:spcAft>
                <a:spcPts val="600"/>
              </a:spcAft>
            </a:pPr>
            <a:r>
              <a:rPr sz="1100" b="1">
                <a:solidFill>
                  <a:srgbClr val="0F172A"/>
                </a:solidFill>
                <a:latin typeface="Calibri"/>
              </a:rPr>
              <a:t>The Solar Reality: </a:t>
            </a:r>
            <a:r>
              <a:rPr sz="1100">
                <a:solidFill>
                  <a:srgbClr val="0F172A"/>
                </a:solidFill>
                <a:latin typeface="Calibri"/>
              </a:rPr>
              <a:t>Modern environmental motes have small solar cells. Their energy fluctuates dynamically: recharging during daylight hours and dipping at night.</a:t>
            </a:r>
          </a:p>
          <a:p>
            <a:pPr>
              <a:spcAft>
                <a:spcPts val="600"/>
              </a:spcAft>
            </a:pPr>
            <a:r>
              <a:rPr sz="1100" b="1">
                <a:solidFill>
                  <a:srgbClr val="0F172A"/>
                </a:solidFill>
                <a:latin typeface="Calibri"/>
              </a:rPr>
              <a:t>The Big Blindspot: </a:t>
            </a:r>
            <a:r>
              <a:rPr sz="1100">
                <a:solidFill>
                  <a:srgbClr val="0F172A"/>
                </a:solidFill>
                <a:latin typeface="Calibri"/>
              </a:rPr>
              <a:t>Standard algorithms like Dijkstra evaluate nodes on a frozen snapshot of residual battery at round start. They treat actively reviving nodes as if they are dying!</a:t>
            </a:r>
          </a:p>
          <a:p>
            <a:pPr>
              <a:spcAft>
                <a:spcPts val="600"/>
              </a:spcAft>
            </a:pPr>
            <a:r>
              <a:rPr sz="1100" b="1">
                <a:solidFill>
                  <a:srgbClr val="0F172A"/>
                </a:solidFill>
                <a:latin typeface="Calibri"/>
              </a:rPr>
              <a:t>Why Not Just Use AI / Machine Learning? </a:t>
            </a:r>
            <a:r>
              <a:rPr sz="1100">
                <a:solidFill>
                  <a:srgbClr val="0F172A"/>
                </a:solidFill>
                <a:latin typeface="Calibri"/>
              </a:rPr>
              <a:t>Heavy Deep Q-Networks require &gt;1 MB of memory and heavy matrix math. Real 32-bit Cortex-M motes possess only 4 to 48 KB of RAM!</a:t>
            </a:r>
          </a:p>
        </p:txBody>
      </p:sp>
      <p:sp>
        <p:nvSpPr>
          <p:cNvPr id="9" name="Rounded Rectangle 8"/>
          <p:cNvSpPr/>
          <p:nvPr/>
        </p:nvSpPr>
        <p:spPr>
          <a:xfrm>
            <a:off x="6248095" y="1463040"/>
            <a:ext cx="521208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00200"/>
            <a:ext cx="4846320" cy="3657600"/>
          </a:xfrm>
          <a:prstGeom prst="rect">
            <a:avLst/>
          </a:prstGeom>
          <a:noFill/>
        </p:spPr>
        <p:txBody>
          <a:bodyPr wrap="square">
            <a:spAutoFit/>
          </a:bodyPr>
          <a:lstStyle/>
          <a:p>
            <a:pPr>
              <a:spcAft>
                <a:spcPts val="800"/>
              </a:spcAft>
              <a:defRPr sz="1400" b="1">
                <a:solidFill>
                  <a:srgbClr val="0F172A"/>
                </a:solidFill>
                <a:latin typeface="Calibri"/>
              </a:defRPr>
            </a:pPr>
            <a:r>
              <a:t>What We Built to Fix It</a:t>
            </a:r>
          </a:p>
          <a:p>
            <a:pPr>
              <a:spcAft>
                <a:spcPts val="600"/>
              </a:spcAft>
            </a:pPr>
            <a:r>
              <a:rPr sz="1100" b="1">
                <a:solidFill>
                  <a:srgbClr val="0F172A"/>
                </a:solidFill>
                <a:latin typeface="Calibri"/>
              </a:rPr>
              <a:t>1. 3D Lookahead DP: </a:t>
            </a:r>
            <a:r>
              <a:rPr sz="1100">
                <a:solidFill>
                  <a:srgbClr val="0F172A"/>
                </a:solidFill>
                <a:latin typeface="Calibri"/>
              </a:rPr>
              <a:t>Plans routes based on the energy a relay will have when packets arrive (h hops later), not what it has now. Runs in strictly O(|E|HT) polynomial time.</a:t>
            </a:r>
          </a:p>
          <a:p>
            <a:pPr>
              <a:spcAft>
                <a:spcPts val="600"/>
              </a:spcAft>
            </a:pPr>
            <a:r>
              <a:rPr sz="1100" b="1">
                <a:solidFill>
                  <a:srgbClr val="0F172A"/>
                </a:solidFill>
                <a:latin typeface="Calibri"/>
              </a:rPr>
              <a:t>2. Instant DSU Live Detours: </a:t>
            </a:r>
            <a:r>
              <a:rPr sz="1100">
                <a:solidFill>
                  <a:srgbClr val="0F172A"/>
                </a:solidFill>
                <a:latin typeface="Calibri"/>
              </a:rPr>
              <a:t>When an intermediate relay dies mid-flight, Union-Find splices a bridge from immediate neighbors in 0.85 ms with 0% packet loss.</a:t>
            </a:r>
          </a:p>
          <a:p>
            <a:pPr>
              <a:spcAft>
                <a:spcPts val="600"/>
              </a:spcAft>
            </a:pPr>
            <a:r>
              <a:rPr sz="1100" b="1">
                <a:solidFill>
                  <a:srgbClr val="0F172A"/>
                </a:solidFill>
                <a:latin typeface="Calibri"/>
              </a:rPr>
              <a:t>3. Solar-Smart Clustering (EH-LEACH): </a:t>
            </a:r>
            <a:r>
              <a:rPr sz="1100">
                <a:solidFill>
                  <a:srgbClr val="0F172A"/>
                </a:solidFill>
                <a:latin typeface="Calibri"/>
              </a:rPr>
              <a:t>Elects cluster heads from sunlit nodes 2.4x more frequently, letting shaded nodes rest as low-power listeners.</a:t>
            </a:r>
          </a:p>
          <a:p>
            <a:pPr>
              <a:spcAft>
                <a:spcPts val="600"/>
              </a:spcAft>
            </a:pPr>
            <a:r>
              <a:rPr sz="1100" b="1">
                <a:solidFill>
                  <a:srgbClr val="0F172A"/>
                </a:solidFill>
                <a:latin typeface="Calibri"/>
              </a:rPr>
              <a:t>4. Interactive Full-Stack Suite: </a:t>
            </a:r>
            <a:r>
              <a:rPr sz="1100">
                <a:solidFill>
                  <a:srgbClr val="0F172A"/>
                </a:solidFill>
                <a:latin typeface="Calibri"/>
              </a:rPr>
              <a:t>A headless simulation core coupled to FastAPI and a React 19 dashboard with round-by-round time-travel scrubbing and heatmaps.</a:t>
            </a:r>
          </a:p>
        </p:txBody>
      </p:sp>
      <p:sp>
        <p:nvSpPr>
          <p:cNvPr id="11" name="Rounded Rectangle 10"/>
          <p:cNvSpPr/>
          <p:nvPr/>
        </p:nvSpPr>
        <p:spPr>
          <a:xfrm>
            <a:off x="731520" y="5532120"/>
            <a:ext cx="10728655" cy="73152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D9488"/>
                </a:solidFill>
                <a:latin typeface="Calibri"/>
              </a:defRPr>
            </a:pPr>
            <a:r>
              <a:t>PROVEN NUMBERS:  68/68 Pytest Tests Passing (100%)  |  6.02x Faster Route Repairs  |  &lt; 5.2 ms Latency  |  &lt; 48 KB RAM Footprint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THE PROBLEM IN ACTION</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Two Costly Mistakes: Why Dijkstra Breaks on Solar Sensors</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3 / 21</a:t>
            </a:r>
          </a:p>
        </p:txBody>
      </p:sp>
      <p:sp>
        <p:nvSpPr>
          <p:cNvPr id="7" name="Rounded Rectangle 6"/>
          <p:cNvSpPr/>
          <p:nvPr/>
        </p:nvSpPr>
        <p:spPr>
          <a:xfrm>
            <a:off x="731520" y="1463040"/>
            <a:ext cx="33832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63040"/>
            <a:ext cx="3383280"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Mistake 1: The False Alarm</a:t>
            </a:r>
          </a:p>
        </p:txBody>
      </p:sp>
      <p:sp>
        <p:nvSpPr>
          <p:cNvPr id="9" name="TextBox 8"/>
          <p:cNvSpPr txBox="1"/>
          <p:nvPr/>
        </p:nvSpPr>
        <p:spPr>
          <a:xfrm>
            <a:off x="868680" y="1965960"/>
            <a:ext cx="3108960" cy="4069080"/>
          </a:xfrm>
          <a:prstGeom prst="rect">
            <a:avLst/>
          </a:prstGeom>
          <a:noFill/>
        </p:spPr>
        <p:txBody>
          <a:bodyPr wrap="square">
            <a:spAutoFit/>
          </a:bodyPr>
          <a:lstStyle/>
          <a:p/>
          <a:p>
            <a:pPr>
              <a:spcAft>
                <a:spcPts val="800"/>
              </a:spcAft>
            </a:pPr>
            <a:r>
              <a:rPr sz="1000" b="1">
                <a:solidFill>
                  <a:srgbClr val="0F172A"/>
                </a:solidFill>
                <a:latin typeface="Calibri"/>
              </a:rPr>
              <a:t>The Setup: </a:t>
            </a:r>
            <a:r>
              <a:rPr sz="1000">
                <a:solidFill>
                  <a:srgbClr val="0F172A"/>
                </a:solidFill>
                <a:latin typeface="Calibri"/>
              </a:rPr>
              <a:t>Relay B has only 5% battery at 8:00 AM. Source S needs to send sensor data 2 hops away.</a:t>
            </a:r>
          </a:p>
          <a:p>
            <a:pPr>
              <a:spcAft>
                <a:spcPts val="800"/>
              </a:spcAft>
            </a:pPr>
            <a:r>
              <a:rPr sz="1000" b="1">
                <a:solidFill>
                  <a:srgbClr val="0F172A"/>
                </a:solidFill>
                <a:latin typeface="Calibri"/>
              </a:rPr>
              <a:t>What Dijkstra Does: </a:t>
            </a:r>
            <a:r>
              <a:rPr sz="1000">
                <a:solidFill>
                  <a:srgbClr val="0F172A"/>
                </a:solidFill>
                <a:latin typeface="Calibri"/>
              </a:rPr>
              <a:t>Dijkstra checks residual battery at t = 0, declares Relay B 'critically low', and routes packets onto a long 4-hop detour.</a:t>
            </a:r>
          </a:p>
          <a:p>
            <a:pPr>
              <a:spcAft>
                <a:spcPts val="800"/>
              </a:spcAft>
            </a:pPr>
            <a:r>
              <a:rPr sz="1000" b="1">
                <a:solidFill>
                  <a:srgbClr val="0F172A"/>
                </a:solidFill>
                <a:latin typeface="Calibri"/>
              </a:rPr>
              <a:t>What Actually Happens: </a:t>
            </a:r>
            <a:r>
              <a:rPr sz="1000">
                <a:solidFill>
                  <a:srgbClr val="0F172A"/>
                </a:solidFill>
                <a:latin typeface="Calibri"/>
              </a:rPr>
              <a:t>By 8:05 AM (Hop 2), morning sunlight recharged Relay B to 40%! Dijkstra threw away a perfectly good, short path based on outdated past data.</a:t>
            </a:r>
          </a:p>
        </p:txBody>
      </p:sp>
      <p:sp>
        <p:nvSpPr>
          <p:cNvPr id="10" name="Rounded Rectangle 9"/>
          <p:cNvSpPr/>
          <p:nvPr/>
        </p:nvSpPr>
        <p:spPr>
          <a:xfrm>
            <a:off x="4389120" y="1463040"/>
            <a:ext cx="33832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463040"/>
            <a:ext cx="3383280" cy="4114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Mistake 2: The Shaded Trap</a:t>
            </a:r>
          </a:p>
        </p:txBody>
      </p:sp>
      <p:sp>
        <p:nvSpPr>
          <p:cNvPr id="12" name="TextBox 11"/>
          <p:cNvSpPr txBox="1"/>
          <p:nvPr/>
        </p:nvSpPr>
        <p:spPr>
          <a:xfrm>
            <a:off x="4526280" y="1965960"/>
            <a:ext cx="3108960" cy="4069080"/>
          </a:xfrm>
          <a:prstGeom prst="rect">
            <a:avLst/>
          </a:prstGeom>
          <a:noFill/>
        </p:spPr>
        <p:txBody>
          <a:bodyPr wrap="square">
            <a:spAutoFit/>
          </a:bodyPr>
          <a:lstStyle/>
          <a:p/>
          <a:p>
            <a:pPr>
              <a:spcAft>
                <a:spcPts val="800"/>
              </a:spcAft>
            </a:pPr>
            <a:r>
              <a:rPr sz="1000" b="1">
                <a:solidFill>
                  <a:srgbClr val="0F172A"/>
                </a:solidFill>
                <a:latin typeface="Calibri"/>
              </a:rPr>
              <a:t>The Setup: </a:t>
            </a:r>
            <a:r>
              <a:rPr sz="1000">
                <a:solidFill>
                  <a:srgbClr val="0F172A"/>
                </a:solidFill>
                <a:latin typeface="Calibri"/>
              </a:rPr>
              <a:t>Relay A sits under dense tree shade. It starts with 80% battery.</a:t>
            </a:r>
          </a:p>
          <a:p>
            <a:pPr>
              <a:spcAft>
                <a:spcPts val="800"/>
              </a:spcAft>
            </a:pPr>
            <a:r>
              <a:rPr sz="1000" b="1">
                <a:solidFill>
                  <a:srgbClr val="0F172A"/>
                </a:solidFill>
                <a:latin typeface="Calibri"/>
              </a:rPr>
              <a:t>What Dijkstra Does: </a:t>
            </a:r>
            <a:r>
              <a:rPr sz="1000">
                <a:solidFill>
                  <a:srgbClr val="0F172A"/>
                </a:solidFill>
                <a:latin typeface="Calibri"/>
              </a:rPr>
              <a:t>Dijkstra sees 80% battery, thinks Relay A is strong, and continuously funnels heavy multi-hop traffic through it.</a:t>
            </a:r>
          </a:p>
          <a:p>
            <a:pPr>
              <a:spcAft>
                <a:spcPts val="800"/>
              </a:spcAft>
            </a:pPr>
            <a:r>
              <a:rPr sz="1000" b="1">
                <a:solidFill>
                  <a:srgbClr val="0F172A"/>
                </a:solidFill>
                <a:latin typeface="Calibri"/>
              </a:rPr>
              <a:t>The Fatal Crash: </a:t>
            </a:r>
            <a:r>
              <a:rPr sz="1000">
                <a:solidFill>
                  <a:srgbClr val="0F172A"/>
                </a:solidFill>
                <a:latin typeface="Calibri"/>
              </a:rPr>
              <a:t>Because Relay A gets zero sunlight, it burns out completely by noon, splitting the network in two while sunny nodes sat idle.</a:t>
            </a:r>
          </a:p>
        </p:txBody>
      </p:sp>
      <p:sp>
        <p:nvSpPr>
          <p:cNvPr id="13" name="Rounded Rectangle 12"/>
          <p:cNvSpPr/>
          <p:nvPr/>
        </p:nvSpPr>
        <p:spPr>
          <a:xfrm>
            <a:off x="8046720" y="1463040"/>
            <a:ext cx="33832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463040"/>
            <a:ext cx="3383280"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Why Machine Learning Fails Here</a:t>
            </a:r>
          </a:p>
        </p:txBody>
      </p:sp>
      <p:sp>
        <p:nvSpPr>
          <p:cNvPr id="15" name="TextBox 14"/>
          <p:cNvSpPr txBox="1"/>
          <p:nvPr/>
        </p:nvSpPr>
        <p:spPr>
          <a:xfrm>
            <a:off x="8183880" y="1965960"/>
            <a:ext cx="3108960" cy="4069080"/>
          </a:xfrm>
          <a:prstGeom prst="rect">
            <a:avLst/>
          </a:prstGeom>
          <a:noFill/>
        </p:spPr>
        <p:txBody>
          <a:bodyPr wrap="square">
            <a:spAutoFit/>
          </a:bodyPr>
          <a:lstStyle/>
          <a:p/>
          <a:p>
            <a:pPr>
              <a:spcAft>
                <a:spcPts val="800"/>
              </a:spcAft>
            </a:pPr>
            <a:r>
              <a:rPr sz="1000" b="1">
                <a:solidFill>
                  <a:srgbClr val="0F172A"/>
                </a:solidFill>
                <a:latin typeface="Calibri"/>
              </a:rPr>
              <a:t>The ML Promise: </a:t>
            </a:r>
            <a:r>
              <a:rPr sz="1000">
                <a:solidFill>
                  <a:srgbClr val="0F172A"/>
                </a:solidFill>
                <a:latin typeface="Calibri"/>
              </a:rPr>
              <a:t>Deep Reinforcement Learning (DQN) can learn stochastic solar refill patterns.</a:t>
            </a:r>
          </a:p>
          <a:p>
            <a:pPr>
              <a:spcAft>
                <a:spcPts val="800"/>
              </a:spcAft>
            </a:pPr>
            <a:r>
              <a:rPr sz="1000" b="1">
                <a:solidFill>
                  <a:srgbClr val="0F172A"/>
                </a:solidFill>
                <a:latin typeface="Calibri"/>
              </a:rPr>
              <a:t>The Embedded Reality: </a:t>
            </a:r>
            <a:r>
              <a:rPr sz="1000">
                <a:solidFill>
                  <a:srgbClr val="0F172A"/>
                </a:solidFill>
                <a:latin typeface="Calibri"/>
              </a:rPr>
              <a:t>A sensor mote uses a 32-bit ARM Cortex-M or MSP430 microcontroller with 4 KB to 48 KB of RAM! Neural network weights take over 1 MB.</a:t>
            </a:r>
          </a:p>
          <a:p>
            <a:pPr>
              <a:spcAft>
                <a:spcPts val="800"/>
              </a:spcAft>
            </a:pPr>
            <a:r>
              <a:rPr sz="1000" b="1">
                <a:solidFill>
                  <a:srgbClr val="0F172A"/>
                </a:solidFill>
                <a:latin typeface="Calibri"/>
              </a:rPr>
              <a:t>Our Insight: </a:t>
            </a:r>
            <a:r>
              <a:rPr sz="1000">
                <a:solidFill>
                  <a:srgbClr val="0F172A"/>
                </a:solidFill>
                <a:latin typeface="Calibri"/>
              </a:rPr>
              <a:t>We need deterministic, lightweight Data Structures &amp; Algorithms that run in milliseconds within tens of kilobytes of memory.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ACADEMIC CONTEXT</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What 9 Recent Research Papers Missed (2020-2025)</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4 / 21</a:t>
            </a:r>
          </a:p>
        </p:txBody>
      </p:sp>
      <p:graphicFrame>
        <p:nvGraphicFramePr>
          <p:cNvPr id="7" name="Table 6"/>
          <p:cNvGraphicFramePr>
            <a:graphicFrameLocks noGrp="1"/>
          </p:cNvGraphicFramePr>
          <p:nvPr/>
        </p:nvGraphicFramePr>
        <p:xfrm>
          <a:off x="731520" y="1463040"/>
          <a:ext cx="10728655" cy="3657600"/>
        </p:xfrm>
        <a:graphic>
          <a:graphicData uri="http://schemas.openxmlformats.org/drawingml/2006/table">
            <a:tbl>
              <a:tblPr firstRow="1" bandRow="1">
                <a:tableStyleId>{5C22544A-7EE6-4342-B048-85BDC9FD1C3A}</a:tableStyleId>
              </a:tblPr>
              <a:tblGrid>
                <a:gridCol w="2377440"/>
                <a:gridCol w="1645920"/>
                <a:gridCol w="3291840"/>
                <a:gridCol w="3413455"/>
              </a:tblGrid>
              <a:tr h="609600">
                <a:tc>
                  <a:txBody>
                    <a:bodyPr/>
                    <a:lstStyle/>
                    <a:p>
                      <a:pPr>
                        <a:defRPr sz="1000" b="1">
                          <a:solidFill>
                            <a:srgbClr val="FFFFFF"/>
                          </a:solidFill>
                          <a:latin typeface="Calibri"/>
                        </a:defRPr>
                      </a:pPr>
                      <a:r>
                        <a:t>Paper &amp; Authors</a:t>
                      </a:r>
                    </a:p>
                  </a:txBody>
                  <a:tcPr>
                    <a:solidFill>
                      <a:srgbClr val="0F172A"/>
                    </a:solidFill>
                  </a:tcPr>
                </a:tc>
                <a:tc>
                  <a:txBody>
                    <a:bodyPr/>
                    <a:lstStyle/>
                    <a:p>
                      <a:pPr>
                        <a:defRPr sz="1000" b="1">
                          <a:solidFill>
                            <a:srgbClr val="FFFFFF"/>
                          </a:solidFill>
                          <a:latin typeface="Calibri"/>
                        </a:defRPr>
                      </a:pPr>
                      <a:r>
                        <a:t>Venue &amp; Year</a:t>
                      </a:r>
                    </a:p>
                  </a:txBody>
                  <a:tcPr>
                    <a:solidFill>
                      <a:srgbClr val="0F172A"/>
                    </a:solidFill>
                  </a:tcPr>
                </a:tc>
                <a:tc>
                  <a:txBody>
                    <a:bodyPr/>
                    <a:lstStyle/>
                    <a:p>
                      <a:pPr>
                        <a:defRPr sz="1000" b="1">
                          <a:solidFill>
                            <a:srgbClr val="FFFFFF"/>
                          </a:solidFill>
                          <a:latin typeface="Calibri"/>
                        </a:defRPr>
                      </a:pPr>
                      <a:r>
                        <a:t>What They Tried</a:t>
                      </a:r>
                    </a:p>
                  </a:txBody>
                  <a:tcPr>
                    <a:solidFill>
                      <a:srgbClr val="0F172A"/>
                    </a:solidFill>
                  </a:tcPr>
                </a:tc>
                <a:tc>
                  <a:txBody>
                    <a:bodyPr/>
                    <a:lstStyle/>
                    <a:p>
                      <a:pPr>
                        <a:defRPr sz="1000" b="1">
                          <a:solidFill>
                            <a:srgbClr val="FFFFFF"/>
                          </a:solidFill>
                          <a:latin typeface="Calibri"/>
                        </a:defRPr>
                      </a:pPr>
                      <a:r>
                        <a:t>The Critical Flaw We Caught</a:t>
                      </a:r>
                    </a:p>
                  </a:txBody>
                  <a:tcPr>
                    <a:solidFill>
                      <a:srgbClr val="0F172A"/>
                    </a:solidFill>
                  </a:tcPr>
                </a:tc>
              </a:tr>
              <a:tr h="609600">
                <a:tc>
                  <a:txBody>
                    <a:bodyPr/>
                    <a:lstStyle/>
                    <a:p>
                      <a:pPr>
                        <a:defRPr sz="950">
                          <a:solidFill>
                            <a:srgbClr val="0F172A"/>
                          </a:solidFill>
                          <a:latin typeface="Calibri"/>
                        </a:defRPr>
                      </a:pPr>
                      <a:r>
                        <a:t>Adaptive Clustering for EH-WSNs</a:t>
                      </a:r>
                      <a:br/>
                      <a:r>
                        <a:t>B. Han, et al.</a:t>
                      </a:r>
                    </a:p>
                  </a:txBody>
                  <a:tcPr>
                    <a:solidFill>
                      <a:srgbClr val="FFFFFF"/>
                    </a:solidFill>
                  </a:tcPr>
                </a:tc>
                <a:tc>
                  <a:txBody>
                    <a:bodyPr/>
                    <a:lstStyle/>
                    <a:p>
                      <a:pPr>
                        <a:defRPr sz="950">
                          <a:solidFill>
                            <a:srgbClr val="0F172A"/>
                          </a:solidFill>
                          <a:latin typeface="Calibri"/>
                        </a:defRPr>
                      </a:pPr>
                      <a:r>
                        <a:t>MDPI Sensors</a:t>
                      </a:r>
                      <a:br/>
                      <a:r>
                        <a:t>(2022)</a:t>
                      </a:r>
                    </a:p>
                  </a:txBody>
                  <a:tcPr>
                    <a:solidFill>
                      <a:srgbClr val="FFFFFF"/>
                    </a:solidFill>
                  </a:tcPr>
                </a:tc>
                <a:tc>
                  <a:txBody>
                    <a:bodyPr/>
                    <a:lstStyle/>
                    <a:p>
                      <a:pPr>
                        <a:defRPr sz="950">
                          <a:solidFill>
                            <a:srgbClr val="0F172A"/>
                          </a:solidFill>
                          <a:latin typeface="Calibri"/>
                        </a:defRPr>
                      </a:pPr>
                      <a:r>
                        <a:t>Weighted cluster head election by instantaneous solar intake.</a:t>
                      </a:r>
                    </a:p>
                  </a:txBody>
                  <a:tcPr>
                    <a:solidFill>
                      <a:srgbClr val="FFFFFF"/>
                    </a:solidFill>
                  </a:tcPr>
                </a:tc>
                <a:tc>
                  <a:txBody>
                    <a:bodyPr/>
                    <a:lstStyle/>
                    <a:p>
                      <a:pPr>
                        <a:defRPr sz="950">
                          <a:solidFill>
                            <a:srgbClr val="0F172A"/>
                          </a:solidFill>
                          <a:latin typeface="Calibri"/>
                        </a:defRPr>
                      </a:pPr>
                      <a:r>
                        <a:t>Completely ignored multi-hop transit delay delta-t! Assumes all deliveries happen instantly.</a:t>
                      </a:r>
                    </a:p>
                  </a:txBody>
                  <a:tcPr>
                    <a:solidFill>
                      <a:srgbClr val="FFFFFF"/>
                    </a:solidFill>
                  </a:tcPr>
                </a:tc>
              </a:tr>
              <a:tr h="609600">
                <a:tc>
                  <a:txBody>
                    <a:bodyPr/>
                    <a:lstStyle/>
                    <a:p>
                      <a:pPr>
                        <a:defRPr sz="950">
                          <a:solidFill>
                            <a:srgbClr val="0F172A"/>
                          </a:solidFill>
                          <a:latin typeface="Calibri"/>
                        </a:defRPr>
                      </a:pPr>
                      <a:r>
                        <a:t>Throughput in Time-Expanded Graphs</a:t>
                      </a:r>
                      <a:br/>
                      <a:r>
                        <a:t>R. Tan, et al.</a:t>
                      </a:r>
                    </a:p>
                  </a:txBody>
                  <a:tcPr>
                    <a:solidFill>
                      <a:srgbClr val="F8FAFC"/>
                    </a:solidFill>
                  </a:tcPr>
                </a:tc>
                <a:tc>
                  <a:txBody>
                    <a:bodyPr/>
                    <a:lstStyle/>
                    <a:p>
                      <a:pPr>
                        <a:defRPr sz="950">
                          <a:solidFill>
                            <a:srgbClr val="0F172A"/>
                          </a:solidFill>
                          <a:latin typeface="Calibri"/>
                        </a:defRPr>
                      </a:pPr>
                      <a:r>
                        <a:t>ACM TOSN</a:t>
                      </a:r>
                      <a:br/>
                      <a:r>
                        <a:t>(2021)</a:t>
                      </a:r>
                    </a:p>
                  </a:txBody>
                  <a:tcPr>
                    <a:solidFill>
                      <a:srgbClr val="F8FAFC"/>
                    </a:solidFill>
                  </a:tcPr>
                </a:tc>
                <a:tc>
                  <a:txBody>
                    <a:bodyPr/>
                    <a:lstStyle/>
                    <a:p>
                      <a:pPr>
                        <a:defRPr sz="950">
                          <a:solidFill>
                            <a:srgbClr val="0F172A"/>
                          </a:solidFill>
                          <a:latin typeface="Calibri"/>
                        </a:defRPr>
                      </a:pPr>
                      <a:r>
                        <a:t>Time-expanded graph with Integer Linear Programming (ILP).</a:t>
                      </a:r>
                    </a:p>
                  </a:txBody>
                  <a:tcPr>
                    <a:solidFill>
                      <a:srgbClr val="F8FAFC"/>
                    </a:solidFill>
                  </a:tcPr>
                </a:tc>
                <a:tc>
                  <a:txBody>
                    <a:bodyPr/>
                    <a:lstStyle/>
                    <a:p>
                      <a:pPr>
                        <a:defRPr sz="950">
                          <a:solidFill>
                            <a:srgbClr val="0F172A"/>
                          </a:solidFill>
                          <a:latin typeface="Calibri"/>
                        </a:defRPr>
                      </a:pPr>
                      <a:r>
                        <a:t>Centralized offline solver on a server. You cannot run an ILP solver on a distributed sensor node!</a:t>
                      </a:r>
                    </a:p>
                  </a:txBody>
                  <a:tcPr>
                    <a:solidFill>
                      <a:srgbClr val="F8FAFC"/>
                    </a:solidFill>
                  </a:tcPr>
                </a:tc>
              </a:tr>
              <a:tr h="609600">
                <a:tc>
                  <a:txBody>
                    <a:bodyPr/>
                    <a:lstStyle/>
                    <a:p>
                      <a:pPr>
                        <a:defRPr sz="950">
                          <a:solidFill>
                            <a:srgbClr val="0F172A"/>
                          </a:solidFill>
                          <a:latin typeface="Calibri"/>
                        </a:defRPr>
                      </a:pPr>
                      <a:r>
                        <a:t>Harvested Energy Prediction in WSNs</a:t>
                      </a:r>
                      <a:br/>
                      <a:r>
                        <a:t>D. K. Sah, T. Amgoth</a:t>
                      </a:r>
                    </a:p>
                  </a:txBody>
                  <a:tcPr>
                    <a:solidFill>
                      <a:srgbClr val="FFFFFF"/>
                    </a:solidFill>
                  </a:tcPr>
                </a:tc>
                <a:tc>
                  <a:txBody>
                    <a:bodyPr/>
                    <a:lstStyle/>
                    <a:p>
                      <a:pPr>
                        <a:defRPr sz="950">
                          <a:solidFill>
                            <a:srgbClr val="0F172A"/>
                          </a:solidFill>
                          <a:latin typeface="Calibri"/>
                        </a:defRPr>
                      </a:pPr>
                      <a:r>
                        <a:t>IEEE Sensors J.</a:t>
                      </a:r>
                      <a:br/>
                      <a:r>
                        <a:t>(2023)</a:t>
                      </a:r>
                    </a:p>
                  </a:txBody>
                  <a:tcPr>
                    <a:solidFill>
                      <a:srgbClr val="FFFFFF"/>
                    </a:solidFill>
                  </a:tcPr>
                </a:tc>
                <a:tc>
                  <a:txBody>
                    <a:bodyPr/>
                    <a:lstStyle/>
                    <a:p>
                      <a:pPr>
                        <a:defRPr sz="950">
                          <a:solidFill>
                            <a:srgbClr val="0F172A"/>
                          </a:solidFill>
                          <a:latin typeface="Calibri"/>
                        </a:defRPr>
                      </a:pPr>
                      <a:r>
                        <a:t>EWMA solar irradiance forecasting for edge costing.</a:t>
                      </a:r>
                    </a:p>
                  </a:txBody>
                  <a:tcPr>
                    <a:solidFill>
                      <a:srgbClr val="FFFFFF"/>
                    </a:solidFill>
                  </a:tcPr>
                </a:tc>
                <a:tc>
                  <a:txBody>
                    <a:bodyPr/>
                    <a:lstStyle/>
                    <a:p>
                      <a:pPr>
                        <a:defRPr sz="950">
                          <a:solidFill>
                            <a:srgbClr val="0F172A"/>
                          </a:solidFill>
                          <a:latin typeface="Calibri"/>
                        </a:defRPr>
                      </a:pPr>
                      <a:r>
                        <a:t>Fed forecasts into standard Dijkstra, falling straight into the False Alarm trap.</a:t>
                      </a:r>
                    </a:p>
                  </a:txBody>
                  <a:tcPr>
                    <a:solidFill>
                      <a:srgbClr val="FFFFFF"/>
                    </a:solidFill>
                  </a:tcPr>
                </a:tc>
              </a:tr>
              <a:tr h="609600">
                <a:tc>
                  <a:txBody>
                    <a:bodyPr/>
                    <a:lstStyle/>
                    <a:p>
                      <a:pPr>
                        <a:defRPr sz="950">
                          <a:solidFill>
                            <a:srgbClr val="0F172A"/>
                          </a:solidFill>
                          <a:latin typeface="Calibri"/>
                        </a:defRPr>
                      </a:pPr>
                      <a:r>
                        <a:t>Deep RL for Energy-Efficient Routing</a:t>
                      </a:r>
                      <a:br/>
                      <a:r>
                        <a:t>M. A. Aref, S. K. Jayaweera</a:t>
                      </a:r>
                    </a:p>
                  </a:txBody>
                  <a:tcPr>
                    <a:solidFill>
                      <a:srgbClr val="F8FAFC"/>
                    </a:solidFill>
                  </a:tcPr>
                </a:tc>
                <a:tc>
                  <a:txBody>
                    <a:bodyPr/>
                    <a:lstStyle/>
                    <a:p>
                      <a:pPr>
                        <a:defRPr sz="950">
                          <a:solidFill>
                            <a:srgbClr val="0F172A"/>
                          </a:solidFill>
                          <a:latin typeface="Calibri"/>
                        </a:defRPr>
                      </a:pPr>
                      <a:r>
                        <a:t>IEEE TCCN</a:t>
                      </a:r>
                      <a:br/>
                      <a:r>
                        <a:t>(2023)</a:t>
                      </a:r>
                    </a:p>
                  </a:txBody>
                  <a:tcPr>
                    <a:solidFill>
                      <a:srgbClr val="F8FAFC"/>
                    </a:solidFill>
                  </a:tcPr>
                </a:tc>
                <a:tc>
                  <a:txBody>
                    <a:bodyPr/>
                    <a:lstStyle/>
                    <a:p>
                      <a:pPr>
                        <a:defRPr sz="950">
                          <a:solidFill>
                            <a:srgbClr val="0F172A"/>
                          </a:solidFill>
                          <a:latin typeface="Calibri"/>
                        </a:defRPr>
                      </a:pPr>
                      <a:r>
                        <a:t>Deep Q-Networks (DQN) for stochastic energy routing.</a:t>
                      </a:r>
                    </a:p>
                  </a:txBody>
                  <a:tcPr>
                    <a:solidFill>
                      <a:srgbClr val="F8FAFC"/>
                    </a:solidFill>
                  </a:tcPr>
                </a:tc>
                <a:tc>
                  <a:txBody>
                    <a:bodyPr/>
                    <a:lstStyle/>
                    <a:p>
                      <a:pPr>
                        <a:defRPr sz="950">
                          <a:solidFill>
                            <a:srgbClr val="0F172A"/>
                          </a:solidFill>
                          <a:latin typeface="Calibri"/>
                        </a:defRPr>
                      </a:pPr>
                      <a:r>
                        <a:t>Heavy neural network weights (&gt;1 MB). Impossible to run on 8/32-bit sensor motes with 10 KB RAM.</a:t>
                      </a:r>
                    </a:p>
                  </a:txBody>
                  <a:tcPr>
                    <a:solidFill>
                      <a:srgbClr val="F8FAFC"/>
                    </a:solidFill>
                  </a:tcPr>
                </a:tc>
              </a:tr>
              <a:tr h="609600">
                <a:tc>
                  <a:txBody>
                    <a:bodyPr/>
                    <a:lstStyle/>
                    <a:p>
                      <a:pPr>
                        <a:defRPr sz="950" b="1">
                          <a:solidFill>
                            <a:srgbClr val="0D9488"/>
                          </a:solidFill>
                          <a:latin typeface="Calibri"/>
                        </a:defRPr>
                      </a:pPr>
                      <a:r>
                        <a:t>Our Framework (This Project)</a:t>
                      </a:r>
                      <a:br/>
                      <a:r>
                        <a:t>Santhosh, Thilang, Ananthakrishnan</a:t>
                      </a:r>
                    </a:p>
                  </a:txBody>
                  <a:tcPr>
                    <a:solidFill>
                      <a:srgbClr val="F0FDFA"/>
                    </a:solidFill>
                  </a:tcPr>
                </a:tc>
                <a:tc>
                  <a:txBody>
                    <a:bodyPr/>
                    <a:lstStyle/>
                    <a:p>
                      <a:pPr>
                        <a:defRPr sz="950">
                          <a:solidFill>
                            <a:srgbClr val="0F172A"/>
                          </a:solidFill>
                          <a:latin typeface="Calibri"/>
                        </a:defRPr>
                      </a:pPr>
                      <a:r>
                        <a:t>Final Defense</a:t>
                      </a:r>
                      <a:br/>
                      <a:r>
                        <a:t>(2026)</a:t>
                      </a:r>
                    </a:p>
                  </a:txBody>
                  <a:tcPr>
                    <a:solidFill>
                      <a:srgbClr val="F0FDFA"/>
                    </a:solidFill>
                  </a:tcPr>
                </a:tc>
                <a:tc>
                  <a:txBody>
                    <a:bodyPr/>
                    <a:lstStyle/>
                    <a:p>
                      <a:pPr>
                        <a:defRPr sz="950">
                          <a:solidFill>
                            <a:srgbClr val="0F172A"/>
                          </a:solidFill>
                          <a:latin typeface="Calibri"/>
                        </a:defRPr>
                      </a:pPr>
                      <a:r>
                        <a:t>3D Lookahead DP + DSU Live Detours + 24-Bin Belief Filter.</a:t>
                      </a:r>
                    </a:p>
                  </a:txBody>
                  <a:tcPr>
                    <a:solidFill>
                      <a:srgbClr val="F0FDFA"/>
                    </a:solidFill>
                  </a:tcPr>
                </a:tc>
                <a:tc>
                  <a:txBody>
                    <a:bodyPr/>
                    <a:lstStyle/>
                    <a:p>
                      <a:pPr>
                        <a:defRPr sz="950">
                          <a:solidFill>
                            <a:srgbClr val="0F172A"/>
                          </a:solidFill>
                          <a:latin typeface="Calibri"/>
                        </a:defRPr>
                      </a:pPr>
                      <a:r>
                        <a:t>Solves transit recharge in O(|E|HT) polynomial time with &lt;48 KB RAM and 6.02x live detour speedup.</a:t>
                      </a:r>
                    </a:p>
                  </a:txBody>
                  <a:tcPr>
                    <a:solidFill>
                      <a:srgbClr val="F0FDFA"/>
                    </a:solidFill>
                  </a:tcPr>
                </a:tc>
              </a:tr>
            </a:tbl>
          </a:graphicData>
        </a:graphic>
      </p:graphicFrame>
      <p:sp>
        <p:nvSpPr>
          <p:cNvPr id="8" name="Rounded Rectangle 7"/>
          <p:cNvSpPr/>
          <p:nvPr/>
        </p:nvSpPr>
        <p:spPr>
          <a:xfrm>
            <a:off x="731520" y="5303520"/>
            <a:ext cx="10728655" cy="9144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349240"/>
            <a:ext cx="10362895" cy="822960"/>
          </a:xfrm>
          <a:prstGeom prst="rect">
            <a:avLst/>
          </a:prstGeom>
          <a:noFill/>
        </p:spPr>
        <p:txBody>
          <a:bodyPr wrap="square">
            <a:spAutoFit/>
          </a:bodyPr>
          <a:lstStyle/>
          <a:p>
            <a:pPr>
              <a:defRPr sz="1000" b="1">
                <a:solidFill>
                  <a:srgbClr val="2563EB"/>
                </a:solidFill>
                <a:latin typeface="Calibri"/>
              </a:defRPr>
            </a:pPr>
            <a:r>
              <a:t>THE RESEARCH GAP WE BRIDGED:</a:t>
            </a:r>
          </a:p>
          <a:p>
            <a:pPr>
              <a:defRPr sz="1000">
                <a:solidFill>
                  <a:srgbClr val="1E293B"/>
                </a:solidFill>
                <a:latin typeface="Calibri"/>
              </a:defRPr>
            </a:pPr>
            <a:r>
              <a:t>Existing literature either ignored transit time, used centralized offline supercomputers (ILP), or used bloated deep neural networks. Our framework is the first to achieve lookahead recharge awareness and live fault recovery using lightweight, deterministic DSA that easily runs on embedded microcontrollers.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HARDWARE REALISM</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The Physics: Heinzelman's Radio Model &amp; The Receiver Tax</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5 / 21</a:t>
            </a:r>
          </a:p>
        </p:txBody>
      </p:sp>
      <p:sp>
        <p:nvSpPr>
          <p:cNvPr id="7" name="Rounded Rectangle 6"/>
          <p:cNvSpPr/>
          <p:nvPr/>
        </p:nvSpPr>
        <p:spPr>
          <a:xfrm>
            <a:off x="731520"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4389120"/>
          </a:xfrm>
          <a:prstGeom prst="rect">
            <a:avLst/>
          </a:prstGeom>
          <a:noFill/>
        </p:spPr>
        <p:txBody>
          <a:bodyPr wrap="square">
            <a:spAutoFit/>
          </a:bodyPr>
          <a:lstStyle/>
          <a:p>
            <a:pPr>
              <a:spcAft>
                <a:spcPts val="800"/>
              </a:spcAft>
              <a:defRPr sz="1400" b="1">
                <a:solidFill>
                  <a:srgbClr val="0F172A"/>
                </a:solidFill>
                <a:latin typeface="Calibri"/>
              </a:defRPr>
            </a:pPr>
            <a:r>
              <a:t>Physical Radio Model (Texas Instruments CC2420)</a:t>
            </a:r>
          </a:p>
          <a:p>
            <a:pPr>
              <a:spcAft>
                <a:spcPts val="600"/>
              </a:spcAft>
            </a:pPr>
            <a:r>
              <a:rPr sz="1100" b="1">
                <a:solidFill>
                  <a:srgbClr val="0F172A"/>
                </a:solidFill>
                <a:latin typeface="Calibri"/>
              </a:rPr>
              <a:t>Real Physical Wireless Hardware: </a:t>
            </a:r>
            <a:r>
              <a:rPr sz="1100">
                <a:solidFill>
                  <a:srgbClr val="0F172A"/>
                </a:solidFill>
                <a:latin typeface="Calibri"/>
              </a:rPr>
              <a:t>Rather than toy unit-costs, our simulator implements the physical first-order radio dissipation model of Heinzelman et al.</a:t>
            </a:r>
          </a:p>
        </p:txBody>
      </p:sp>
      <p:pic>
        <p:nvPicPr>
          <p:cNvPr id="9" name="Picture 8" descr="eq_5.png"/>
          <p:cNvPicPr>
            <a:picLocks noChangeAspect="1"/>
          </p:cNvPicPr>
          <p:nvPr/>
        </p:nvPicPr>
        <p:blipFill>
          <a:blip r:embed="rId2"/>
          <a:stretch>
            <a:fillRect/>
          </a:stretch>
        </p:blipFill>
        <p:spPr>
          <a:xfrm>
            <a:off x="914400" y="2606040"/>
            <a:ext cx="4846320" cy="463008"/>
          </a:xfrm>
          <a:prstGeom prst="rect">
            <a:avLst/>
          </a:prstGeom>
        </p:spPr>
      </p:pic>
      <p:sp>
        <p:nvSpPr>
          <p:cNvPr id="10" name="TextBox 9"/>
          <p:cNvSpPr txBox="1"/>
          <p:nvPr/>
        </p:nvSpPr>
        <p:spPr>
          <a:xfrm>
            <a:off x="914400" y="3291840"/>
            <a:ext cx="4846320" cy="2743200"/>
          </a:xfrm>
          <a:prstGeom prst="rect">
            <a:avLst/>
          </a:prstGeom>
          <a:noFill/>
        </p:spPr>
        <p:txBody>
          <a:bodyPr wrap="square">
            <a:spAutoFit/>
          </a:bodyPr>
          <a:lstStyle/>
          <a:p/>
          <a:p>
            <a:pPr>
              <a:spcAft>
                <a:spcPts val="600"/>
              </a:spcAft>
            </a:pPr>
            <a:r>
              <a:rPr sz="1050" b="1">
                <a:solidFill>
                  <a:srgbClr val="0F172A"/>
                </a:solidFill>
                <a:latin typeface="Calibri"/>
              </a:rPr>
              <a:t>Two Distinct Range Regimes: </a:t>
            </a:r>
            <a:r>
              <a:rPr sz="1050">
                <a:solidFill>
                  <a:srgbClr val="0F172A"/>
                </a:solidFill>
                <a:latin typeface="Calibri"/>
              </a:rPr>
              <a:t>When transmission distance d &lt; 87.7m (free-space), power loss scales with d^2. When distance exceeds 87.7m, multipath ground interference steepens power loss to d^4.</a:t>
            </a:r>
          </a:p>
          <a:p>
            <a:pPr>
              <a:spcAft>
                <a:spcPts val="600"/>
              </a:spcAft>
            </a:pPr>
            <a:r>
              <a:rPr sz="1050" b="1">
                <a:solidFill>
                  <a:srgbClr val="0F172A"/>
                </a:solidFill>
                <a:latin typeface="Calibri"/>
              </a:rPr>
              <a:t>The Hidden Receiver Tax (E_rx): </a:t>
            </a:r>
            <a:r>
              <a:rPr sz="1050">
                <a:solidFill>
                  <a:srgbClr val="0F172A"/>
                </a:solidFill>
                <a:latin typeface="Calibri"/>
              </a:rPr>
              <a:t>Every intermediate relay burns Erx = k * E_elec simply keeping its radio receiver awake to capture a packet. For 4000 bits, Erx = 0.200 mJ. This reception tax is crucial!</a:t>
            </a:r>
          </a:p>
        </p:txBody>
      </p:sp>
      <p:sp>
        <p:nvSpPr>
          <p:cNvPr id="11" name="Rounded Rectangle 10"/>
          <p:cNvSpPr/>
          <p:nvPr/>
        </p:nvSpPr>
        <p:spPr>
          <a:xfrm>
            <a:off x="6248095"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0975" y="1600200"/>
            <a:ext cx="4846320" cy="4389120"/>
          </a:xfrm>
          <a:prstGeom prst="rect">
            <a:avLst/>
          </a:prstGeom>
          <a:noFill/>
        </p:spPr>
        <p:txBody>
          <a:bodyPr wrap="square">
            <a:spAutoFit/>
          </a:bodyPr>
          <a:lstStyle/>
          <a:p>
            <a:pPr>
              <a:spcAft>
                <a:spcPts val="800"/>
              </a:spcAft>
              <a:defRPr sz="1400" b="1">
                <a:solidFill>
                  <a:srgbClr val="0F172A"/>
                </a:solidFill>
                <a:latin typeface="Calibri"/>
              </a:defRPr>
            </a:pPr>
            <a:r>
              <a:t>Hardware Constants &amp; Crossover Distance</a:t>
            </a:r>
          </a:p>
          <a:p>
            <a:pPr>
              <a:spcAft>
                <a:spcPts val="600"/>
              </a:spcAft>
            </a:pPr>
            <a:r>
              <a:rPr sz="1100" b="1">
                <a:solidFill>
                  <a:srgbClr val="0F172A"/>
                </a:solidFill>
                <a:latin typeface="Calibri"/>
              </a:rPr>
              <a:t>Electronic Circuitry (E_elec): </a:t>
            </a:r>
            <a:r>
              <a:rPr sz="1100">
                <a:solidFill>
                  <a:srgbClr val="0F172A"/>
                </a:solidFill>
                <a:latin typeface="Calibri"/>
              </a:rPr>
              <a:t>50.0 nJ/bit -- energy to run transmitter &amp; receiver digital baseband.</a:t>
            </a:r>
          </a:p>
          <a:p>
            <a:pPr>
              <a:spcAft>
                <a:spcPts val="600"/>
              </a:spcAft>
            </a:pPr>
            <a:r>
              <a:rPr sz="1100" b="1">
                <a:solidFill>
                  <a:srgbClr val="0F172A"/>
                </a:solidFill>
                <a:latin typeface="Calibri"/>
              </a:rPr>
              <a:t>Free-Space RF Amplifier (eps_fs): </a:t>
            </a:r>
            <a:r>
              <a:rPr sz="1100">
                <a:solidFill>
                  <a:srgbClr val="0F172A"/>
                </a:solidFill>
                <a:latin typeface="Calibri"/>
              </a:rPr>
              <a:t>10.0 pJ/bit/m^2 -- power amplification when line-of-sight holds.</a:t>
            </a:r>
          </a:p>
          <a:p>
            <a:pPr>
              <a:spcAft>
                <a:spcPts val="600"/>
              </a:spcAft>
            </a:pPr>
            <a:r>
              <a:rPr sz="1100" b="1">
                <a:solidFill>
                  <a:srgbClr val="0F172A"/>
                </a:solidFill>
                <a:latin typeface="Calibri"/>
              </a:rPr>
              <a:t>Multipath RF Amplifier (eps_mp): </a:t>
            </a:r>
            <a:r>
              <a:rPr sz="1100">
                <a:solidFill>
                  <a:srgbClr val="0F172A"/>
                </a:solidFill>
                <a:latin typeface="Calibri"/>
              </a:rPr>
              <a:t>0.0013 pJ/bit/m^4 -- power amplification when ground clutter scatters RF.</a:t>
            </a:r>
          </a:p>
          <a:p>
            <a:pPr>
              <a:spcAft>
                <a:spcPts val="600"/>
              </a:spcAft>
            </a:pPr>
            <a:r>
              <a:rPr sz="1100" b="1">
                <a:solidFill>
                  <a:srgbClr val="0F172A"/>
                </a:solidFill>
                <a:latin typeface="Calibri"/>
              </a:rPr>
              <a:t>Crossover Boundary (d0): </a:t>
            </a:r>
            <a:r>
              <a:rPr sz="1100">
                <a:solidFill>
                  <a:srgbClr val="0F172A"/>
                </a:solidFill>
                <a:latin typeface="Calibri"/>
              </a:rPr>
              <a:t>d0 = sqrt(eps_fs / eps_mp) = 87.70 meters.</a:t>
            </a:r>
          </a:p>
        </p:txBody>
      </p:sp>
      <p:sp>
        <p:nvSpPr>
          <p:cNvPr id="13" name="Rounded Rectangle 12"/>
          <p:cNvSpPr/>
          <p:nvPr/>
        </p:nvSpPr>
        <p:spPr>
          <a:xfrm>
            <a:off x="6430975" y="4389120"/>
            <a:ext cx="4846320" cy="155448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D97706"/>
                </a:solidFill>
                <a:latin typeface="Calibri"/>
              </a:defRPr>
            </a:pPr>
            <a:r>
              <a:t>THE INTUITIVE HARDWARE REALITY:</a:t>
            </a:r>
          </a:p>
          <a:p>
            <a:pPr>
              <a:defRPr sz="950">
                <a:solidFill>
                  <a:srgbClr val="0F172A"/>
                </a:solidFill>
                <a:latin typeface="Calibri"/>
              </a:defRPr>
            </a:pPr>
            <a:r>
              <a:t>In a 100m x 100m sensor field, most nodes are 20m to 40m apart (well under d0 = 87.7m). In this zone, adding an extra hop adds an unavoidable 0.200 mJ receiver tax! Relaying is NOT always greener unless the node is actively recharging.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WEATHER ENGINE</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Simulating Real Weather: Clouds, Tree Shadows &amp; Day-Night Cycles</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6 / 21</a:t>
            </a:r>
          </a:p>
        </p:txBody>
      </p:sp>
      <p:sp>
        <p:nvSpPr>
          <p:cNvPr id="7" name="Rounded Rectangle 6"/>
          <p:cNvSpPr/>
          <p:nvPr/>
        </p:nvSpPr>
        <p:spPr>
          <a:xfrm>
            <a:off x="731520" y="1463040"/>
            <a:ext cx="52120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63040"/>
            <a:ext cx="5212080"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Calibri"/>
              </a:defRPr>
            </a:pPr>
            <a:r>
              <a:t>1. The 24-Hour Solar Day</a:t>
            </a:r>
          </a:p>
        </p:txBody>
      </p:sp>
      <p:sp>
        <p:nvSpPr>
          <p:cNvPr id="9" name="TextBox 8"/>
          <p:cNvSpPr txBox="1"/>
          <p:nvPr/>
        </p:nvSpPr>
        <p:spPr>
          <a:xfrm>
            <a:off x="868680" y="1847088"/>
            <a:ext cx="4937760" cy="1737360"/>
          </a:xfrm>
          <a:prstGeom prst="rect">
            <a:avLst/>
          </a:prstGeom>
          <a:noFill/>
        </p:spPr>
        <p:txBody>
          <a:bodyPr wrap="square">
            <a:spAutoFit/>
          </a:bodyPr>
          <a:lstStyle/>
          <a:p/>
          <a:p>
            <a:pPr>
              <a:spcAft>
                <a:spcPts val="300"/>
              </a:spcAft>
            </a:pPr>
            <a:r>
              <a:rPr sz="950" b="1">
                <a:solidFill>
                  <a:srgbClr val="0F172A"/>
                </a:solidFill>
                <a:latin typeface="Calibri"/>
              </a:rPr>
              <a:t>The Mechanism: </a:t>
            </a:r>
            <a:r>
              <a:rPr sz="950">
                <a:solidFill>
                  <a:srgbClr val="0F172A"/>
                </a:solidFill>
                <a:latin typeface="Calibri"/>
              </a:rPr>
              <a:t>Simulates realistic diurnal solar cycles (1 round = 1 hour).</a:t>
            </a:r>
          </a:p>
          <a:p>
            <a:pPr>
              <a:spcAft>
                <a:spcPts val="300"/>
              </a:spcAft>
            </a:pPr>
            <a:r>
              <a:rPr sz="950" b="1">
                <a:solidFill>
                  <a:srgbClr val="0F172A"/>
                </a:solidFill>
                <a:latin typeface="Calibri"/>
              </a:rPr>
              <a:t>The Math: </a:t>
            </a:r>
            <a:r>
              <a:rPr sz="950">
                <a:solidFill>
                  <a:srgbClr val="0F172A"/>
                </a:solidFill>
                <a:latin typeface="Calibri"/>
              </a:rPr>
              <a:t>Solar irradiance follows a clipped half-sine wave: sunrise at Round 6, peaking at 0.035 J/round at midday (Round 12), and zero at night (Rounds 19 to 23).</a:t>
            </a:r>
          </a:p>
          <a:p>
            <a:pPr>
              <a:spcAft>
                <a:spcPts val="300"/>
              </a:spcAft>
            </a:pPr>
            <a:r>
              <a:rPr sz="950" b="1">
                <a:solidFill>
                  <a:srgbClr val="0F172A"/>
                </a:solidFill>
                <a:latin typeface="Calibri"/>
              </a:rPr>
              <a:t>Why It Matters: </a:t>
            </a:r>
            <a:r>
              <a:rPr sz="950">
                <a:solidFill>
                  <a:srgbClr val="0F172A"/>
                </a:solidFill>
                <a:latin typeface="Calibri"/>
              </a:rPr>
              <a:t>Tests whether algorithms can store daytime energy to survive the dark nighttime hours.</a:t>
            </a:r>
          </a:p>
        </p:txBody>
      </p:sp>
      <p:sp>
        <p:nvSpPr>
          <p:cNvPr id="10" name="Rounded Rectangle 9"/>
          <p:cNvSpPr/>
          <p:nvPr/>
        </p:nvSpPr>
        <p:spPr>
          <a:xfrm>
            <a:off x="6217920" y="1463040"/>
            <a:ext cx="52120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463040"/>
            <a:ext cx="5212080" cy="34747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Calibri"/>
              </a:defRPr>
            </a:pPr>
            <a:r>
              <a:t>2. Spatial Tree Canopy Shadows</a:t>
            </a:r>
          </a:p>
        </p:txBody>
      </p:sp>
      <p:sp>
        <p:nvSpPr>
          <p:cNvPr id="12" name="TextBox 11"/>
          <p:cNvSpPr txBox="1"/>
          <p:nvPr/>
        </p:nvSpPr>
        <p:spPr>
          <a:xfrm>
            <a:off x="6355080" y="1847088"/>
            <a:ext cx="4937760" cy="1737360"/>
          </a:xfrm>
          <a:prstGeom prst="rect">
            <a:avLst/>
          </a:prstGeom>
          <a:noFill/>
        </p:spPr>
        <p:txBody>
          <a:bodyPr wrap="square">
            <a:spAutoFit/>
          </a:bodyPr>
          <a:lstStyle/>
          <a:p/>
          <a:p>
            <a:pPr>
              <a:spcAft>
                <a:spcPts val="300"/>
              </a:spcAft>
            </a:pPr>
            <a:r>
              <a:rPr sz="950" b="1">
                <a:solidFill>
                  <a:srgbClr val="0F172A"/>
                </a:solidFill>
                <a:latin typeface="Calibri"/>
              </a:rPr>
              <a:t>The Mechanism: </a:t>
            </a:r>
            <a:r>
              <a:rPr sz="950">
                <a:solidFill>
                  <a:srgbClr val="0F172A"/>
                </a:solidFill>
                <a:latin typeface="Calibri"/>
              </a:rPr>
              <a:t>Simulates uneven tree foliage or building shadows across the field.</a:t>
            </a:r>
          </a:p>
          <a:p>
            <a:pPr>
              <a:spcAft>
                <a:spcPts val="300"/>
              </a:spcAft>
            </a:pPr>
            <a:r>
              <a:rPr sz="950" b="1">
                <a:solidFill>
                  <a:srgbClr val="0F172A"/>
                </a:solidFill>
                <a:latin typeface="Calibri"/>
              </a:rPr>
              <a:t>The Math: </a:t>
            </a:r>
            <a:r>
              <a:rPr sz="950">
                <a:solidFill>
                  <a:srgbClr val="0F172A"/>
                </a:solidFill>
                <a:latin typeface="Calibri"/>
              </a:rPr>
              <a:t>Parameterized by shadow probability p_shadow in [0, 1]. Shaded nodes receive only 10% of incoming sunlight.</a:t>
            </a:r>
          </a:p>
          <a:p>
            <a:pPr>
              <a:spcAft>
                <a:spcPts val="300"/>
              </a:spcAft>
            </a:pPr>
            <a:r>
              <a:rPr sz="950" b="1">
                <a:solidFill>
                  <a:srgbClr val="0F172A"/>
                </a:solidFill>
                <a:latin typeface="Calibri"/>
              </a:rPr>
              <a:t>Why It Matters: </a:t>
            </a:r>
            <a:r>
              <a:rPr sz="950">
                <a:solidFill>
                  <a:srgbClr val="0F172A"/>
                </a:solidFill>
                <a:latin typeface="Calibri"/>
              </a:rPr>
              <a:t>Creates realistic spatial inequality: sunny relays recharge continuously while shaded relays must be conserved.</a:t>
            </a:r>
          </a:p>
        </p:txBody>
      </p:sp>
      <p:sp>
        <p:nvSpPr>
          <p:cNvPr id="13" name="Rounded Rectangle 12"/>
          <p:cNvSpPr/>
          <p:nvPr/>
        </p:nvSpPr>
        <p:spPr>
          <a:xfrm>
            <a:off x="731520" y="3794760"/>
            <a:ext cx="52120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794760"/>
            <a:ext cx="5212080" cy="3474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Calibri"/>
              </a:defRPr>
            </a:pPr>
            <a:r>
              <a:t>3. Bursty Ambient Energy</a:t>
            </a:r>
          </a:p>
        </p:txBody>
      </p:sp>
      <p:sp>
        <p:nvSpPr>
          <p:cNvPr id="15" name="TextBox 14"/>
          <p:cNvSpPr txBox="1"/>
          <p:nvPr/>
        </p:nvSpPr>
        <p:spPr>
          <a:xfrm>
            <a:off x="868680" y="4178808"/>
            <a:ext cx="4937760" cy="1737360"/>
          </a:xfrm>
          <a:prstGeom prst="rect">
            <a:avLst/>
          </a:prstGeom>
          <a:noFill/>
        </p:spPr>
        <p:txBody>
          <a:bodyPr wrap="square">
            <a:spAutoFit/>
          </a:bodyPr>
          <a:lstStyle/>
          <a:p/>
          <a:p>
            <a:pPr>
              <a:spcAft>
                <a:spcPts val="300"/>
              </a:spcAft>
            </a:pPr>
            <a:r>
              <a:rPr sz="950" b="1">
                <a:solidFill>
                  <a:srgbClr val="0F172A"/>
                </a:solidFill>
                <a:latin typeface="Calibri"/>
              </a:rPr>
              <a:t>The Mechanism: </a:t>
            </a:r>
            <a:r>
              <a:rPr sz="950">
                <a:solidFill>
                  <a:srgbClr val="0F172A"/>
                </a:solidFill>
                <a:latin typeface="Calibri"/>
              </a:rPr>
              <a:t>Models sporadic ambient power sources like indoor light, vibration, or RF harvesting.</a:t>
            </a:r>
          </a:p>
          <a:p>
            <a:pPr>
              <a:spcAft>
                <a:spcPts val="300"/>
              </a:spcAft>
            </a:pPr>
            <a:r>
              <a:rPr sz="950" b="1">
                <a:solidFill>
                  <a:srgbClr val="0F172A"/>
                </a:solidFill>
                <a:latin typeface="Calibri"/>
              </a:rPr>
              <a:t>The Math: </a:t>
            </a:r>
            <a:r>
              <a:rPr sz="950">
                <a:solidFill>
                  <a:srgbClr val="0F172A"/>
                </a:solidFill>
                <a:latin typeface="Calibri"/>
              </a:rPr>
              <a:t>Energy arrives in unpredictable Poisson bursts with arrival rate lambda and discrete quantum size q.</a:t>
            </a:r>
          </a:p>
          <a:p>
            <a:pPr>
              <a:spcAft>
                <a:spcPts val="300"/>
              </a:spcAft>
            </a:pPr>
            <a:r>
              <a:rPr sz="950" b="1">
                <a:solidFill>
                  <a:srgbClr val="0F172A"/>
                </a:solidFill>
                <a:latin typeface="Calibri"/>
              </a:rPr>
              <a:t>Why It Matters: </a:t>
            </a:r>
            <a:r>
              <a:rPr sz="950">
                <a:solidFill>
                  <a:srgbClr val="0F172A"/>
                </a:solidFill>
                <a:latin typeface="Calibri"/>
              </a:rPr>
              <a:t>Tests how routing handles energy that cannot be predicted with a smooth sine wave.</a:t>
            </a:r>
          </a:p>
        </p:txBody>
      </p:sp>
      <p:sp>
        <p:nvSpPr>
          <p:cNvPr id="16" name="Rounded Rectangle 15"/>
          <p:cNvSpPr/>
          <p:nvPr/>
        </p:nvSpPr>
        <p:spPr>
          <a:xfrm>
            <a:off x="6217920" y="3794760"/>
            <a:ext cx="52120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794760"/>
            <a:ext cx="5212080" cy="3474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Calibri"/>
              </a:defRPr>
            </a:pPr>
            <a:r>
              <a:t>4. Real Weather Trace Replays</a:t>
            </a:r>
          </a:p>
        </p:txBody>
      </p:sp>
      <p:sp>
        <p:nvSpPr>
          <p:cNvPr id="18" name="TextBox 17"/>
          <p:cNvSpPr txBox="1"/>
          <p:nvPr/>
        </p:nvSpPr>
        <p:spPr>
          <a:xfrm>
            <a:off x="6355080" y="4178808"/>
            <a:ext cx="4937760" cy="1737360"/>
          </a:xfrm>
          <a:prstGeom prst="rect">
            <a:avLst/>
          </a:prstGeom>
          <a:noFill/>
        </p:spPr>
        <p:txBody>
          <a:bodyPr wrap="square">
            <a:spAutoFit/>
          </a:bodyPr>
          <a:lstStyle/>
          <a:p/>
          <a:p>
            <a:pPr>
              <a:spcAft>
                <a:spcPts val="300"/>
              </a:spcAft>
            </a:pPr>
            <a:r>
              <a:rPr sz="950" b="1">
                <a:solidFill>
                  <a:srgbClr val="0F172A"/>
                </a:solidFill>
                <a:latin typeface="Calibri"/>
              </a:rPr>
              <a:t>The Mechanism: </a:t>
            </a:r>
            <a:r>
              <a:rPr sz="950">
                <a:solidFill>
                  <a:srgbClr val="0F172A"/>
                </a:solidFill>
                <a:latin typeface="Calibri"/>
              </a:rPr>
              <a:t>Replays verified 24-hour meteorological solar datasets.</a:t>
            </a:r>
          </a:p>
          <a:p>
            <a:pPr>
              <a:spcAft>
                <a:spcPts val="300"/>
              </a:spcAft>
            </a:pPr>
            <a:r>
              <a:rPr sz="950" b="1">
                <a:solidFill>
                  <a:srgbClr val="0F172A"/>
                </a:solidFill>
                <a:latin typeface="Calibri"/>
              </a:rPr>
              <a:t>The Math: </a:t>
            </a:r>
            <a:r>
              <a:rPr sz="950">
                <a:solidFill>
                  <a:srgbClr val="0F172A"/>
                </a:solidFill>
                <a:latin typeface="Calibri"/>
              </a:rPr>
              <a:t>Evaluates across Clear Sky (smooth solar curve), Intermittent Clouds (sharp random drops), and Overcast (heavily damped solar intake).</a:t>
            </a:r>
          </a:p>
          <a:p>
            <a:pPr>
              <a:spcAft>
                <a:spcPts val="300"/>
              </a:spcAft>
            </a:pPr>
            <a:r>
              <a:rPr sz="950" b="1">
                <a:solidFill>
                  <a:srgbClr val="0F172A"/>
                </a:solidFill>
                <a:latin typeface="Calibri"/>
              </a:rPr>
              <a:t>Why It Matters: </a:t>
            </a:r>
            <a:r>
              <a:rPr sz="950">
                <a:solidFill>
                  <a:srgbClr val="0F172A"/>
                </a:solidFill>
                <a:latin typeface="Calibri"/>
              </a:rPr>
              <a:t>Guarantees our simulator reflects real-world cloud cover rather than toy equations.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ALGORITHM 1: TIME-DP</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Algorithm 1: Teaching Dynamic Programming to Look Ahead</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7 / 21</a:t>
            </a:r>
          </a:p>
        </p:txBody>
      </p:sp>
      <p:sp>
        <p:nvSpPr>
          <p:cNvPr id="7" name="Rounded Rectangle 6"/>
          <p:cNvSpPr/>
          <p:nvPr/>
        </p:nvSpPr>
        <p:spPr>
          <a:xfrm>
            <a:off x="731520"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4389120"/>
          </a:xfrm>
          <a:prstGeom prst="rect">
            <a:avLst/>
          </a:prstGeom>
          <a:noFill/>
        </p:spPr>
        <p:txBody>
          <a:bodyPr wrap="square">
            <a:spAutoFit/>
          </a:bodyPr>
          <a:lstStyle/>
          <a:p>
            <a:pPr>
              <a:spcAft>
                <a:spcPts val="600"/>
              </a:spcAft>
              <a:defRPr sz="1400" b="1">
                <a:solidFill>
                  <a:srgbClr val="0F172A"/>
                </a:solidFill>
                <a:latin typeface="Calibri"/>
              </a:defRPr>
            </a:pPr>
            <a:r>
              <a:t>The Core Intuition &amp; 3D Recurrence</a:t>
            </a:r>
          </a:p>
          <a:p>
            <a:pPr>
              <a:spcAft>
                <a:spcPts val="600"/>
              </a:spcAft>
            </a:pPr>
            <a:r>
              <a:rPr sz="1050" b="1">
                <a:solidFill>
                  <a:srgbClr val="0F172A"/>
                </a:solidFill>
                <a:latin typeface="Calibri"/>
              </a:rPr>
              <a:t>The Big Shift: </a:t>
            </a:r>
            <a:r>
              <a:rPr sz="1050">
                <a:solidFill>
                  <a:srgbClr val="0F172A"/>
                </a:solidFill>
                <a:latin typeface="Calibri"/>
              </a:rPr>
              <a:t>Instead of asking 'Does node B have battery right now?', we ask: 'Will node B have battery when our packet actually reaches it 2 hops from now?'</a:t>
            </a:r>
          </a:p>
          <a:p>
            <a:pPr>
              <a:spcAft>
                <a:spcPts val="600"/>
              </a:spcAft>
            </a:pPr>
            <a:r>
              <a:rPr sz="1050" b="1">
                <a:solidFill>
                  <a:srgbClr val="0F172A"/>
                </a:solidFill>
                <a:latin typeface="Calibri"/>
              </a:rPr>
              <a:t>The 3D State dp[v][h][t]: </a:t>
            </a:r>
            <a:r>
              <a:rPr sz="1050">
                <a:solidFill>
                  <a:srgbClr val="0F172A"/>
                </a:solidFill>
                <a:latin typeface="Calibri"/>
              </a:rPr>
              <a:t>Maximum bottleneck residual energy along any candidate h-hop path reaching node v at arrival time offset t.</a:t>
            </a:r>
          </a:p>
        </p:txBody>
      </p:sp>
      <p:pic>
        <p:nvPicPr>
          <p:cNvPr id="9" name="Picture 8" descr="eq_3.png"/>
          <p:cNvPicPr>
            <a:picLocks noChangeAspect="1"/>
          </p:cNvPicPr>
          <p:nvPr/>
        </p:nvPicPr>
        <p:blipFill>
          <a:blip r:embed="rId2"/>
          <a:stretch>
            <a:fillRect/>
          </a:stretch>
        </p:blipFill>
        <p:spPr>
          <a:xfrm>
            <a:off x="914400" y="2697480"/>
            <a:ext cx="4846320" cy="321289"/>
          </a:xfrm>
          <a:prstGeom prst="rect">
            <a:avLst/>
          </a:prstGeom>
        </p:spPr>
      </p:pic>
      <p:sp>
        <p:nvSpPr>
          <p:cNvPr id="10" name="TextBox 9"/>
          <p:cNvSpPr txBox="1"/>
          <p:nvPr/>
        </p:nvSpPr>
        <p:spPr>
          <a:xfrm>
            <a:off x="914400" y="3291840"/>
            <a:ext cx="4846320" cy="2743200"/>
          </a:xfrm>
          <a:prstGeom prst="rect">
            <a:avLst/>
          </a:prstGeom>
          <a:noFill/>
        </p:spPr>
        <p:txBody>
          <a:bodyPr wrap="square">
            <a:spAutoFit/>
          </a:bodyPr>
          <a:lstStyle/>
          <a:p/>
          <a:p>
            <a:pPr>
              <a:spcAft>
                <a:spcPts val="600"/>
              </a:spcAft>
            </a:pPr>
            <a:r>
              <a:rPr sz="1000" b="1">
                <a:solidFill>
                  <a:srgbClr val="0F172A"/>
                </a:solidFill>
                <a:latin typeface="Calibri"/>
              </a:rPr>
              <a:t>Lookahead Recharge Projection E_proj: </a:t>
            </a:r>
            <a:r>
              <a:rPr sz="1000">
                <a:solidFill>
                  <a:srgbClr val="0F172A"/>
                </a:solidFill>
                <a:latin typeface="Calibri"/>
              </a:rPr>
              <a:t>E_proj(v, t) adds the solar recharge expected during transit minus battery leakage. It anticipates refill before packets arrive!</a:t>
            </a:r>
          </a:p>
          <a:p>
            <a:pPr>
              <a:spcAft>
                <a:spcPts val="600"/>
              </a:spcAft>
            </a:pPr>
            <a:r>
              <a:rPr sz="1000" b="1">
                <a:solidFill>
                  <a:srgbClr val="0F172A"/>
                </a:solidFill>
                <a:latin typeface="Calibri"/>
              </a:rPr>
              <a:t>Physical Feasibility Gate: </a:t>
            </a:r>
            <a:r>
              <a:rPr sz="1000">
                <a:solidFill>
                  <a:srgbClr val="0F172A"/>
                </a:solidFill>
                <a:latin typeface="Calibri"/>
              </a:rPr>
              <a:t>A hop from u to v is only explored if u has enough battery to pay the radio transmission cost E_tx. Infeasible paths are pruned immediately.</a:t>
            </a:r>
          </a:p>
        </p:txBody>
      </p:sp>
      <p:sp>
        <p:nvSpPr>
          <p:cNvPr id="11" name="Rounded Rectangle 10"/>
          <p:cNvSpPr/>
          <p:nvPr/>
        </p:nvSpPr>
        <p:spPr>
          <a:xfrm>
            <a:off x="6248095"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0975" y="1600200"/>
            <a:ext cx="4846320" cy="4389120"/>
          </a:xfrm>
          <a:prstGeom prst="rect">
            <a:avLst/>
          </a:prstGeom>
          <a:noFill/>
        </p:spPr>
        <p:txBody>
          <a:bodyPr wrap="square">
            <a:spAutoFit/>
          </a:bodyPr>
          <a:lstStyle/>
          <a:p>
            <a:pPr>
              <a:spcAft>
                <a:spcPts val="600"/>
              </a:spcAft>
              <a:defRPr sz="1400" b="1">
                <a:solidFill>
                  <a:srgbClr val="0F172A"/>
                </a:solidFill>
                <a:latin typeface="Calibri"/>
              </a:defRPr>
            </a:pPr>
            <a:r>
              <a:t>Why It Runs in Milliseconds (&lt;48 KB RAM)</a:t>
            </a:r>
          </a:p>
          <a:p>
            <a:pPr>
              <a:spcAft>
                <a:spcPts val="600"/>
              </a:spcAft>
            </a:pPr>
            <a:r>
              <a:rPr sz="1050" b="1">
                <a:solidFill>
                  <a:srgbClr val="0F172A"/>
                </a:solidFill>
                <a:latin typeface="Calibri"/>
              </a:rPr>
              <a:t>Polynomial Time O(|E| * H * T): </a:t>
            </a:r>
            <a:r>
              <a:rPr sz="1050">
                <a:solidFill>
                  <a:srgbClr val="0F172A"/>
                </a:solidFill>
                <a:latin typeface="Calibri"/>
              </a:rPr>
              <a:t>Because time strictly advances with each hop, the state space is a Directed Acyclic Graph (DAG). There are zero cycles to recompute!</a:t>
            </a:r>
          </a:p>
          <a:p>
            <a:pPr>
              <a:spcAft>
                <a:spcPts val="600"/>
              </a:spcAft>
            </a:pPr>
            <a:r>
              <a:rPr sz="1050" b="1">
                <a:solidFill>
                  <a:srgbClr val="0F172A"/>
                </a:solidFill>
                <a:latin typeface="Calibri"/>
              </a:rPr>
              <a:t>Compact Memory Footprint: </a:t>
            </a:r>
            <a:r>
              <a:rPr sz="1050">
                <a:solidFill>
                  <a:srgbClr val="0F172A"/>
                </a:solidFill>
                <a:latin typeface="Calibri"/>
              </a:rPr>
              <a:t>Consumes &lt; 48 KB RAM for a 50-node network. It easily fits on modern 32-bit ARM Cortex-M4 or ESP32 microcontrollers.</a:t>
            </a:r>
          </a:p>
          <a:p>
            <a:pPr>
              <a:spcAft>
                <a:spcPts val="600"/>
              </a:spcAft>
            </a:pPr>
            <a:r>
              <a:rPr sz="1050" b="1">
                <a:solidFill>
                  <a:srgbClr val="0F172A"/>
                </a:solidFill>
                <a:latin typeface="Calibri"/>
              </a:rPr>
              <a:t>Real Benchmark Latency: </a:t>
            </a:r>
            <a:r>
              <a:rPr sz="1050">
                <a:solidFill>
                  <a:srgbClr val="0F172A"/>
                </a:solidFill>
                <a:latin typeface="Calibri"/>
              </a:rPr>
              <a:t>Table fills in under 5.2 milliseconds per call on standard sensor hardware.</a:t>
            </a:r>
          </a:p>
        </p:txBody>
      </p:sp>
      <p:pic>
        <p:nvPicPr>
          <p:cNvPr id="13" name="Picture 12" descr="eq_2.png"/>
          <p:cNvPicPr>
            <a:picLocks noChangeAspect="1"/>
          </p:cNvPicPr>
          <p:nvPr/>
        </p:nvPicPr>
        <p:blipFill>
          <a:blip r:embed="rId3"/>
          <a:stretch>
            <a:fillRect/>
          </a:stretch>
        </p:blipFill>
        <p:spPr>
          <a:xfrm>
            <a:off x="6430975" y="4114800"/>
            <a:ext cx="4846320" cy="302080"/>
          </a:xfrm>
          <a:prstGeom prst="rect">
            <a:avLst/>
          </a:prstGeom>
        </p:spPr>
      </p:pic>
      <p:sp>
        <p:nvSpPr>
          <p:cNvPr id="14" name="TextBox 13"/>
          <p:cNvSpPr txBox="1"/>
          <p:nvPr/>
        </p:nvSpPr>
        <p:spPr>
          <a:xfrm>
            <a:off x="6430975" y="4709160"/>
            <a:ext cx="4846320" cy="1371600"/>
          </a:xfrm>
          <a:prstGeom prst="rect">
            <a:avLst/>
          </a:prstGeom>
          <a:noFill/>
        </p:spPr>
        <p:txBody>
          <a:bodyPr wrap="square">
            <a:spAutoFit/>
          </a:bodyPr>
          <a:lstStyle/>
          <a:p/>
          <a:p>
            <a:pPr>
              <a:spcAft>
                <a:spcPts val="600"/>
              </a:spcAft>
            </a:pPr>
            <a:r>
              <a:rPr sz="1000" b="1">
                <a:solidFill>
                  <a:srgbClr val="0F172A"/>
                </a:solidFill>
                <a:latin typeface="Calibri"/>
              </a:rPr>
              <a:t>Optimal Backtracking: </a:t>
            </a:r>
            <a:r>
              <a:rPr sz="1000">
                <a:solidFill>
                  <a:srgbClr val="0F172A"/>
                </a:solidFill>
                <a:latin typeface="Calibri"/>
              </a:rPr>
              <a:t>Backpointers parent[(v, h, t)] trace backwards from the Base Station to extract the optimal bottleneck-maximizing route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ALGORITHM 2: DSU DETOURS</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Algorithm 2: Fixing Broken Routes on the Fly in 0.85 ms</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8 / 21</a:t>
            </a:r>
          </a:p>
        </p:txBody>
      </p:sp>
      <p:sp>
        <p:nvSpPr>
          <p:cNvPr id="7" name="Rounded Rectangle 6"/>
          <p:cNvSpPr/>
          <p:nvPr/>
        </p:nvSpPr>
        <p:spPr>
          <a:xfrm>
            <a:off x="731520" y="1463040"/>
            <a:ext cx="33832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0200"/>
            <a:ext cx="3108960" cy="4389120"/>
          </a:xfrm>
          <a:prstGeom prst="rect">
            <a:avLst/>
          </a:prstGeom>
          <a:noFill/>
        </p:spPr>
        <p:txBody>
          <a:bodyPr wrap="square">
            <a:spAutoFit/>
          </a:bodyPr>
          <a:lstStyle/>
          <a:p>
            <a:pPr>
              <a:spcAft>
                <a:spcPts val="600"/>
              </a:spcAft>
              <a:defRPr sz="1300" b="1">
                <a:solidFill>
                  <a:srgbClr val="DC2626"/>
                </a:solidFill>
                <a:latin typeface="Calibri"/>
              </a:defRPr>
            </a:pPr>
            <a:r>
              <a:t>The In-Flight Breakdown</a:t>
            </a:r>
          </a:p>
          <a:p>
            <a:pPr>
              <a:spcAft>
                <a:spcPts val="600"/>
              </a:spcAft>
            </a:pPr>
            <a:r>
              <a:rPr sz="1000" b="1">
                <a:solidFill>
                  <a:srgbClr val="0F172A"/>
                </a:solidFill>
                <a:latin typeface="Calibri"/>
              </a:rPr>
              <a:t>The Unexpected Crash: </a:t>
            </a:r>
            <a:r>
              <a:rPr sz="1000">
                <a:solidFill>
                  <a:srgbClr val="0F172A"/>
                </a:solidFill>
                <a:latin typeface="Calibri"/>
              </a:rPr>
              <a:t>Sensors don't politely wait for round boundaries to die. A relay can brown out mid-transmission due to sudden cloud cover or unexpected data load.</a:t>
            </a:r>
          </a:p>
          <a:p>
            <a:pPr>
              <a:spcAft>
                <a:spcPts val="600"/>
              </a:spcAft>
            </a:pPr>
            <a:r>
              <a:rPr sz="1000" b="1">
                <a:solidFill>
                  <a:srgbClr val="0F172A"/>
                </a:solidFill>
                <a:latin typeface="Calibri"/>
              </a:rPr>
              <a:t>The Wasted Energy: </a:t>
            </a:r>
            <a:r>
              <a:rPr sz="1000">
                <a:solidFill>
                  <a:srgbClr val="0F172A"/>
                </a:solidFill>
                <a:latin typeface="Calibri"/>
              </a:rPr>
              <a:t>If we drop the packet, all transmission energy spent across prior hops is permanently lost.</a:t>
            </a:r>
          </a:p>
          <a:p>
            <a:pPr>
              <a:spcAft>
                <a:spcPts val="600"/>
              </a:spcAft>
            </a:pPr>
            <a:r>
              <a:rPr sz="1000" b="1">
                <a:solidFill>
                  <a:srgbClr val="0F172A"/>
                </a:solidFill>
                <a:latin typeface="Calibri"/>
              </a:rPr>
              <a:t>Why Full Recompute Fails: </a:t>
            </a:r>
            <a:r>
              <a:rPr sz="1000">
                <a:solidFill>
                  <a:srgbClr val="0F172A"/>
                </a:solidFill>
                <a:latin typeface="Calibri"/>
              </a:rPr>
              <a:t>Rerunning full Time-DP takes over 5.12 milliseconds and floods the entire field with route recalculation broadcasts.</a:t>
            </a:r>
          </a:p>
        </p:txBody>
      </p:sp>
      <p:sp>
        <p:nvSpPr>
          <p:cNvPr id="9" name="Rounded Rectangle 8"/>
          <p:cNvSpPr/>
          <p:nvPr/>
        </p:nvSpPr>
        <p:spPr>
          <a:xfrm>
            <a:off x="4389120" y="1463040"/>
            <a:ext cx="33832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600200"/>
            <a:ext cx="3108960" cy="4389120"/>
          </a:xfrm>
          <a:prstGeom prst="rect">
            <a:avLst/>
          </a:prstGeom>
          <a:noFill/>
        </p:spPr>
        <p:txBody>
          <a:bodyPr wrap="square">
            <a:spAutoFit/>
          </a:bodyPr>
          <a:lstStyle/>
          <a:p>
            <a:pPr>
              <a:spcAft>
                <a:spcPts val="600"/>
              </a:spcAft>
              <a:defRPr sz="1300" b="1">
                <a:solidFill>
                  <a:srgbClr val="2563EB"/>
                </a:solidFill>
                <a:latin typeface="Calibri"/>
              </a:defRPr>
            </a:pPr>
            <a:r>
              <a:t>The Union-Find Shortcut</a:t>
            </a:r>
          </a:p>
          <a:p>
            <a:pPr>
              <a:spcAft>
                <a:spcPts val="600"/>
              </a:spcAft>
            </a:pPr>
            <a:r>
              <a:rPr sz="1000" b="1">
                <a:solidFill>
                  <a:srgbClr val="0F172A"/>
                </a:solidFill>
                <a:latin typeface="Calibri"/>
              </a:rPr>
              <a:t>Two Classic Optimizations: </a:t>
            </a:r>
            <a:r>
              <a:rPr sz="1000">
                <a:solidFill>
                  <a:srgbClr val="0F172A"/>
                </a:solidFill>
                <a:latin typeface="Calibri"/>
              </a:rPr>
              <a:t>1. Path Compression flattens the tree during find(x).
2. Union by Rank attaches the smaller tree under the root of the larger tree.</a:t>
            </a:r>
          </a:p>
          <a:p>
            <a:pPr>
              <a:spcAft>
                <a:spcPts val="600"/>
              </a:spcAft>
            </a:pPr>
            <a:r>
              <a:rPr sz="1000" b="1">
                <a:solidFill>
                  <a:srgbClr val="0F172A"/>
                </a:solidFill>
                <a:latin typeface="Calibri"/>
              </a:rPr>
              <a:t>The Invariant We Maintain: </a:t>
            </a:r>
            <a:r>
              <a:rPr sz="1000">
                <a:solidFill>
                  <a:srgbClr val="0F172A"/>
                </a:solidFill>
                <a:latin typeface="Calibri"/>
              </a:rPr>
              <a:t>We maintain the connected component of the Base Station. Any node b can reach the sink iff find(b) == bs_root.</a:t>
            </a:r>
          </a:p>
          <a:p>
            <a:pPr>
              <a:spcAft>
                <a:spcPts val="600"/>
              </a:spcAft>
            </a:pPr>
            <a:r>
              <a:rPr sz="1000" b="1">
                <a:solidFill>
                  <a:srgbClr val="0F172A"/>
                </a:solidFill>
                <a:latin typeface="Calibri"/>
              </a:rPr>
              <a:t>Near O(1) Speed: </a:t>
            </a:r>
            <a:r>
              <a:rPr sz="1000">
                <a:solidFill>
                  <a:srgbClr val="0F172A"/>
                </a:solidFill>
                <a:latin typeface="Calibri"/>
              </a:rPr>
              <a:t>Amortized complexity is O(alpha(V)) where alpha is the inverse Ackermann function (&lt;= 4). Near-instant lookup!</a:t>
            </a:r>
          </a:p>
        </p:txBody>
      </p:sp>
      <p:sp>
        <p:nvSpPr>
          <p:cNvPr id="11" name="Rounded Rectangle 10"/>
          <p:cNvSpPr/>
          <p:nvPr/>
        </p:nvSpPr>
        <p:spPr>
          <a:xfrm>
            <a:off x="8046720" y="1463040"/>
            <a:ext cx="33832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600200"/>
            <a:ext cx="3108960" cy="4389120"/>
          </a:xfrm>
          <a:prstGeom prst="rect">
            <a:avLst/>
          </a:prstGeom>
          <a:noFill/>
        </p:spPr>
        <p:txBody>
          <a:bodyPr wrap="square">
            <a:spAutoFit/>
          </a:bodyPr>
          <a:lstStyle/>
          <a:p>
            <a:pPr>
              <a:spcAft>
                <a:spcPts val="600"/>
              </a:spcAft>
              <a:defRPr sz="1300" b="1">
                <a:solidFill>
                  <a:srgbClr val="0D9488"/>
                </a:solidFill>
                <a:latin typeface="Calibri"/>
              </a:defRPr>
            </a:pPr>
            <a:r>
              <a:t>The Local Bridge Splice</a:t>
            </a:r>
          </a:p>
          <a:p>
            <a:pPr>
              <a:spcAft>
                <a:spcPts val="600"/>
              </a:spcAft>
            </a:pPr>
            <a:r>
              <a:rPr sz="1000" b="1">
                <a:solidFill>
                  <a:srgbClr val="0F172A"/>
                </a:solidFill>
                <a:latin typeface="Calibri"/>
              </a:rPr>
              <a:t>Asking Immediate Neighbors: </a:t>
            </a:r>
            <a:r>
              <a:rPr sz="1000">
                <a:solidFill>
                  <a:srgbClr val="0F172A"/>
                </a:solidFill>
                <a:latin typeface="Calibri"/>
              </a:rPr>
              <a:t>When the relay at hop i dies, predecessor u asks only its immediate neighbors: 'Who among you is already in the Base Station's component?'</a:t>
            </a:r>
          </a:p>
          <a:p>
            <a:pPr>
              <a:spcAft>
                <a:spcPts val="600"/>
              </a:spcAft>
            </a:pPr>
            <a:r>
              <a:rPr sz="1000" b="1">
                <a:solidFill>
                  <a:srgbClr val="0F172A"/>
                </a:solidFill>
                <a:latin typeface="Calibri"/>
              </a:rPr>
              <a:t>Lowest Radio Cost Wins: </a:t>
            </a:r>
            <a:r>
              <a:rPr sz="1000">
                <a:solidFill>
                  <a:srgbClr val="0F172A"/>
                </a:solidFill>
                <a:latin typeface="Calibri"/>
              </a:rPr>
              <a:t>Among connected neighbors, u picks the one requiring the lowest transmission power and immediately splices it into the route.</a:t>
            </a:r>
          </a:p>
          <a:p>
            <a:pPr>
              <a:spcAft>
                <a:spcPts val="600"/>
              </a:spcAft>
            </a:pPr>
            <a:r>
              <a:rPr sz="1000" b="1">
                <a:solidFill>
                  <a:srgbClr val="0F172A"/>
                </a:solidFill>
                <a:latin typeface="Calibri"/>
              </a:rPr>
              <a:t>The Result: </a:t>
            </a:r>
            <a:r>
              <a:rPr sz="1000">
                <a:solidFill>
                  <a:srgbClr val="0F172A"/>
                </a:solidFill>
                <a:latin typeface="Calibri"/>
              </a:rPr>
              <a:t>Executed in 0.85 ms vs 5.12 ms (6.02x faster) with a 100% Packet Delivery Ratio across 500 failure injection trials!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ALGORITHM 3: EH-LEACH</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Algorithm 3: Picking Cluster Heads That Actually Have Sunlight</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9 / 21</a:t>
            </a:r>
          </a:p>
        </p:txBody>
      </p:sp>
      <p:sp>
        <p:nvSpPr>
          <p:cNvPr id="7" name="Rounded Rectangle 6"/>
          <p:cNvSpPr/>
          <p:nvPr/>
        </p:nvSpPr>
        <p:spPr>
          <a:xfrm>
            <a:off x="731520"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4389120"/>
          </a:xfrm>
          <a:prstGeom prst="rect">
            <a:avLst/>
          </a:prstGeom>
          <a:noFill/>
        </p:spPr>
        <p:txBody>
          <a:bodyPr wrap="square">
            <a:spAutoFit/>
          </a:bodyPr>
          <a:lstStyle/>
          <a:p>
            <a:pPr>
              <a:spcAft>
                <a:spcPts val="600"/>
              </a:spcAft>
              <a:defRPr sz="1400" b="1">
                <a:solidFill>
                  <a:srgbClr val="0F172A"/>
                </a:solidFill>
                <a:latin typeface="Calibri"/>
              </a:defRPr>
            </a:pPr>
            <a:r>
              <a:t>The Flaw with Standard LEACH Clustering</a:t>
            </a:r>
          </a:p>
          <a:p>
            <a:pPr>
              <a:spcAft>
                <a:spcPts val="600"/>
              </a:spcAft>
            </a:pPr>
            <a:r>
              <a:rPr sz="1050" b="1">
                <a:solidFill>
                  <a:srgbClr val="0F172A"/>
                </a:solidFill>
                <a:latin typeface="Calibri"/>
              </a:rPr>
              <a:t>The Random Coin Flip: </a:t>
            </a:r>
            <a:r>
              <a:rPr sz="1050">
                <a:solidFill>
                  <a:srgbClr val="0F172A"/>
                </a:solidFill>
                <a:latin typeface="Calibri"/>
              </a:rPr>
              <a:t>Classical LEACH elects Cluster Heads (CHs) based purely on random chance (probability p = 0.10). Every alive node has the exact same probability of being picked.</a:t>
            </a:r>
          </a:p>
          <a:p>
            <a:pPr>
              <a:spcAft>
                <a:spcPts val="600"/>
              </a:spcAft>
            </a:pPr>
            <a:r>
              <a:rPr sz="1050" b="1">
                <a:solidFill>
                  <a:srgbClr val="0F172A"/>
                </a:solidFill>
                <a:latin typeface="Calibri"/>
              </a:rPr>
              <a:t>The Heavy Burden of a Cluster Head: </a:t>
            </a:r>
            <a:r>
              <a:rPr sz="1050">
                <a:solidFill>
                  <a:srgbClr val="0F172A"/>
                </a:solidFill>
                <a:latin typeface="Calibri"/>
              </a:rPr>
              <a:t>Cluster Heads must stay awake, collect data from 10+ member nodes, aggregate the packets, and transmit high-power uplinks to the Base Station.</a:t>
            </a:r>
          </a:p>
          <a:p>
            <a:pPr>
              <a:spcAft>
                <a:spcPts val="600"/>
              </a:spcAft>
            </a:pPr>
            <a:r>
              <a:rPr sz="1050" b="1">
                <a:solidFill>
                  <a:srgbClr val="0F172A"/>
                </a:solidFill>
                <a:latin typeface="Calibri"/>
              </a:rPr>
              <a:t>The Shaded Disaster: </a:t>
            </a:r>
            <a:r>
              <a:rPr sz="1050">
                <a:solidFill>
                  <a:srgbClr val="0F172A"/>
                </a:solidFill>
                <a:latin typeface="Calibri"/>
              </a:rPr>
              <a:t>When a shaded sensor under a tree gets randomly elected as Cluster Head, its battery completely drains within 1-2 rounds!</a:t>
            </a:r>
          </a:p>
          <a:p>
            <a:pPr>
              <a:spcAft>
                <a:spcPts val="600"/>
              </a:spcAft>
            </a:pPr>
            <a:r>
              <a:rPr sz="1050" b="1">
                <a:solidFill>
                  <a:srgbClr val="0F172A"/>
                </a:solidFill>
                <a:latin typeface="Calibri"/>
              </a:rPr>
              <a:t>Our Fix in src/clustering.py: </a:t>
            </a:r>
            <a:r>
              <a:rPr sz="1050">
                <a:solidFill>
                  <a:srgbClr val="0F172A"/>
                </a:solidFill>
                <a:latin typeface="Calibri"/>
              </a:rPr>
              <a:t>Weight the election threshold dynamically based on the incoming solar recharge rate.</a:t>
            </a:r>
          </a:p>
        </p:txBody>
      </p:sp>
      <p:sp>
        <p:nvSpPr>
          <p:cNvPr id="9" name="Rounded Rectangle 8"/>
          <p:cNvSpPr/>
          <p:nvPr/>
        </p:nvSpPr>
        <p:spPr>
          <a:xfrm>
            <a:off x="6248095"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00200"/>
            <a:ext cx="4846320" cy="4389120"/>
          </a:xfrm>
          <a:prstGeom prst="rect">
            <a:avLst/>
          </a:prstGeom>
          <a:noFill/>
        </p:spPr>
        <p:txBody>
          <a:bodyPr wrap="square">
            <a:spAutoFit/>
          </a:bodyPr>
          <a:lstStyle/>
          <a:p>
            <a:pPr>
              <a:spcAft>
                <a:spcPts val="600"/>
              </a:spcAft>
              <a:defRPr sz="1400" b="1">
                <a:solidFill>
                  <a:srgbClr val="0F172A"/>
                </a:solidFill>
                <a:latin typeface="Calibri"/>
              </a:defRPr>
            </a:pPr>
            <a:r>
              <a:t>Our Solar-Weighted Threshold Formula T(n)</a:t>
            </a:r>
          </a:p>
        </p:txBody>
      </p:sp>
      <p:pic>
        <p:nvPicPr>
          <p:cNvPr id="11" name="Picture 10" descr="eq_4.png"/>
          <p:cNvPicPr>
            <a:picLocks noChangeAspect="1"/>
          </p:cNvPicPr>
          <p:nvPr/>
        </p:nvPicPr>
        <p:blipFill>
          <a:blip r:embed="rId2"/>
          <a:stretch>
            <a:fillRect/>
          </a:stretch>
        </p:blipFill>
        <p:spPr>
          <a:xfrm>
            <a:off x="6430975" y="2194560"/>
            <a:ext cx="4846320" cy="629529"/>
          </a:xfrm>
          <a:prstGeom prst="rect">
            <a:avLst/>
          </a:prstGeom>
        </p:spPr>
      </p:pic>
      <p:sp>
        <p:nvSpPr>
          <p:cNvPr id="12" name="TextBox 11"/>
          <p:cNvSpPr txBox="1"/>
          <p:nvPr/>
        </p:nvSpPr>
        <p:spPr>
          <a:xfrm>
            <a:off x="6430975" y="2926080"/>
            <a:ext cx="4846320" cy="3017520"/>
          </a:xfrm>
          <a:prstGeom prst="rect">
            <a:avLst/>
          </a:prstGeom>
          <a:noFill/>
        </p:spPr>
        <p:txBody>
          <a:bodyPr wrap="square">
            <a:spAutoFit/>
          </a:bodyPr>
          <a:lstStyle/>
          <a:p/>
          <a:p>
            <a:pPr>
              <a:spcAft>
                <a:spcPts val="600"/>
              </a:spcAft>
            </a:pPr>
            <a:r>
              <a:rPr sz="1000" b="1">
                <a:solidFill>
                  <a:srgbClr val="0F172A"/>
                </a:solidFill>
                <a:latin typeface="Calibri"/>
              </a:rPr>
              <a:t>E_n, H_n: </a:t>
            </a:r>
            <a:r>
              <a:rPr sz="1000">
                <a:solidFill>
                  <a:srgbClr val="0F172A"/>
                </a:solidFill>
                <a:latin typeface="Calibri"/>
              </a:rPr>
              <a:t>Residual battery and expected solar harvest intake of candidate node n in the upcoming round.</a:t>
            </a:r>
          </a:p>
          <a:p>
            <a:pPr>
              <a:spcAft>
                <a:spcPts val="600"/>
              </a:spcAft>
            </a:pPr>
            <a:r>
              <a:rPr sz="1000" b="1">
                <a:solidFill>
                  <a:srgbClr val="0F172A"/>
                </a:solidFill>
                <a:latin typeface="Calibri"/>
              </a:rPr>
              <a:t>E_avg, H_avg: </a:t>
            </a:r>
            <a:r>
              <a:rPr sz="1000">
                <a:solidFill>
                  <a:srgbClr val="0F172A"/>
                </a:solidFill>
                <a:latin typeface="Calibri"/>
              </a:rPr>
              <a:t>Average residual energy and solar harvest rate across all currently operational sensors.</a:t>
            </a:r>
          </a:p>
          <a:p>
            <a:pPr>
              <a:spcAft>
                <a:spcPts val="600"/>
              </a:spcAft>
            </a:pPr>
            <a:r>
              <a:rPr sz="1000" b="1">
                <a:solidFill>
                  <a:srgbClr val="0F172A"/>
                </a:solidFill>
                <a:latin typeface="Calibri"/>
              </a:rPr>
              <a:t>beta = 0.5: </a:t>
            </a:r>
            <a:r>
              <a:rPr sz="1000">
                <a:solidFill>
                  <a:srgbClr val="0F172A"/>
                </a:solidFill>
                <a:latin typeface="Calibri"/>
              </a:rPr>
              <a:t>Harvest weighting coefficient balancing stored battery vs incoming solar rate.</a:t>
            </a:r>
          </a:p>
          <a:p>
            <a:pPr>
              <a:spcAft>
                <a:spcPts val="600"/>
              </a:spcAft>
            </a:pPr>
            <a:r>
              <a:rPr sz="1000" b="1">
                <a:solidFill>
                  <a:srgbClr val="0F172A"/>
                </a:solidFill>
                <a:latin typeface="Calibri"/>
              </a:rPr>
              <a:t>2.4x Election Boost: </a:t>
            </a:r>
            <a:r>
              <a:rPr sz="1000">
                <a:solidFill>
                  <a:srgbClr val="0F172A"/>
                </a:solidFill>
                <a:latin typeface="Calibri"/>
              </a:rPr>
              <a:t>Sensors basking in bright sunlight are elected 2.4x more frequently, handling the heavy aggregation lifting and shielding shaded sensors from early burnout.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ALGORITHM 4: BELIEF FILTER</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Algorithm 4: Routing When Battery Reports Are Stale</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10 / 21</a:t>
            </a:r>
          </a:p>
        </p:txBody>
      </p:sp>
      <p:sp>
        <p:nvSpPr>
          <p:cNvPr id="7" name="Rounded Rectangle 6"/>
          <p:cNvSpPr/>
          <p:nvPr/>
        </p:nvSpPr>
        <p:spPr>
          <a:xfrm>
            <a:off x="731520"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4389120"/>
          </a:xfrm>
          <a:prstGeom prst="rect">
            <a:avLst/>
          </a:prstGeom>
          <a:noFill/>
        </p:spPr>
        <p:txBody>
          <a:bodyPr wrap="square">
            <a:spAutoFit/>
          </a:bodyPr>
          <a:lstStyle/>
          <a:p>
            <a:pPr>
              <a:spcAft>
                <a:spcPts val="600"/>
              </a:spcAft>
              <a:defRPr sz="1400" b="1">
                <a:solidFill>
                  <a:srgbClr val="0F172A"/>
                </a:solidFill>
                <a:latin typeface="Calibri"/>
              </a:defRPr>
            </a:pPr>
            <a:r>
              <a:t>The Partial Observability Dilemma</a:t>
            </a:r>
          </a:p>
          <a:p>
            <a:pPr>
              <a:spcAft>
                <a:spcPts val="600"/>
              </a:spcAft>
            </a:pPr>
            <a:r>
              <a:rPr sz="1000" b="1">
                <a:solidFill>
                  <a:srgbClr val="0F172A"/>
                </a:solidFill>
                <a:latin typeface="Calibri"/>
              </a:rPr>
              <a:t>The Telemetry Dilemma: </a:t>
            </a:r>
            <a:r>
              <a:rPr sz="1000">
                <a:solidFill>
                  <a:srgbClr val="0F172A"/>
                </a:solidFill>
                <a:latin typeface="Calibri"/>
              </a:rPr>
              <a:t>Sensors cannot broadcast battery telemetry every round. Transmitting the status update itself burns precious battery! The router must make decisions under uncertainty.</a:t>
            </a:r>
          </a:p>
          <a:p>
            <a:pPr>
              <a:spcAft>
                <a:spcPts val="600"/>
              </a:spcAft>
            </a:pPr>
            <a:r>
              <a:rPr sz="1000" b="1">
                <a:solidFill>
                  <a:srgbClr val="0F172A"/>
                </a:solidFill>
                <a:latin typeface="Calibri"/>
              </a:rPr>
              <a:t>5 Belief Views Evaluated (src/energy_view.py): </a:t>
            </a:r>
            <a:r>
              <a:rPr sz="1000">
                <a:solidFill>
                  <a:srgbClr val="0F172A"/>
                </a:solidFill>
                <a:latin typeface="Calibri"/>
              </a:rPr>
              <a:t/>
            </a:r>
          </a:p>
          <a:p>
            <a:pPr>
              <a:spcAft>
                <a:spcPts val="600"/>
              </a:spcAft>
            </a:pPr>
            <a:r>
              <a:rPr sz="950" b="1">
                <a:solidFill>
                  <a:srgbClr val="0F172A"/>
                </a:solidFill>
                <a:latin typeface="Calibri"/>
              </a:rPr>
              <a:t>- Oracle: </a:t>
            </a:r>
            <a:r>
              <a:rPr sz="950">
                <a:solidFill>
                  <a:srgbClr val="0F172A"/>
                </a:solidFill>
                <a:latin typeface="Calibri"/>
              </a:rPr>
              <a:t>Omniscient exact battery reading. (Cheating upper baseline).</a:t>
            </a:r>
          </a:p>
          <a:p>
            <a:pPr>
              <a:spcAft>
                <a:spcPts val="600"/>
              </a:spcAft>
            </a:pPr>
            <a:r>
              <a:rPr sz="950" b="1">
                <a:solidFill>
                  <a:srgbClr val="0F172A"/>
                </a:solidFill>
                <a:latin typeface="Calibri"/>
              </a:rPr>
              <a:t>- Blind: </a:t>
            </a:r>
            <a:r>
              <a:rPr sz="950">
                <a:solidFill>
                  <a:srgbClr val="0F172A"/>
                </a:solidFill>
                <a:latin typeface="Calibri"/>
              </a:rPr>
              <a:t>Zero updates after Round 0. Completely blind to solar refill.</a:t>
            </a:r>
          </a:p>
          <a:p>
            <a:pPr>
              <a:spcAft>
                <a:spcPts val="600"/>
              </a:spcAft>
            </a:pPr>
            <a:r>
              <a:rPr sz="950" b="1">
                <a:solidFill>
                  <a:srgbClr val="0F172A"/>
                </a:solidFill>
                <a:latin typeface="Calibri"/>
              </a:rPr>
              <a:t>- Stale: </a:t>
            </a:r>
            <a:r>
              <a:rPr sz="950">
                <a:solidFill>
                  <a:srgbClr val="0F172A"/>
                </a:solidFill>
                <a:latin typeface="Calibri"/>
              </a:rPr>
              <a:t>Periodic 8-bit report every R rounds. Lags behind true state.</a:t>
            </a:r>
          </a:p>
          <a:p>
            <a:pPr>
              <a:spcAft>
                <a:spcPts val="600"/>
              </a:spcAft>
            </a:pPr>
            <a:r>
              <a:rPr sz="950" b="1">
                <a:solidFill>
                  <a:srgbClr val="0F172A"/>
                </a:solidFill>
                <a:latin typeface="Calibri"/>
              </a:rPr>
              <a:t>- Gaussian: </a:t>
            </a:r>
            <a:r>
              <a:rPr sz="950">
                <a:solidFill>
                  <a:srgbClr val="0F172A"/>
                </a:solidFill>
                <a:latin typeface="Calibri"/>
              </a:rPr>
              <a:t>Kalman filter. Suffers severe errors at battery boundaries.</a:t>
            </a:r>
          </a:p>
          <a:p>
            <a:pPr>
              <a:spcAft>
                <a:spcPts val="600"/>
              </a:spcAft>
            </a:pPr>
            <a:r>
              <a:rPr sz="950" b="1">
                <a:solidFill>
                  <a:srgbClr val="0F172A"/>
                </a:solidFill>
                <a:latin typeface="Calibri"/>
              </a:rPr>
              <a:t>- Histogram (Ours): </a:t>
            </a:r>
            <a:r>
              <a:rPr sz="950">
                <a:solidFill>
                  <a:srgbClr val="0F172A"/>
                </a:solidFill>
                <a:latin typeface="Calibri"/>
              </a:rPr>
              <a:t>24-bin discrete probability distribution p in [0, 1]^24.</a:t>
            </a:r>
          </a:p>
        </p:txBody>
      </p:sp>
      <p:sp>
        <p:nvSpPr>
          <p:cNvPr id="9" name="Rounded Rectangle 8"/>
          <p:cNvSpPr/>
          <p:nvPr/>
        </p:nvSpPr>
        <p:spPr>
          <a:xfrm>
            <a:off x="6248095"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00200"/>
            <a:ext cx="4846320" cy="4389120"/>
          </a:xfrm>
          <a:prstGeom prst="rect">
            <a:avLst/>
          </a:prstGeom>
          <a:noFill/>
        </p:spPr>
        <p:txBody>
          <a:bodyPr wrap="square">
            <a:spAutoFit/>
          </a:bodyPr>
          <a:lstStyle/>
          <a:p>
            <a:pPr>
              <a:spcAft>
                <a:spcPts val="600"/>
              </a:spcAft>
              <a:defRPr sz="1400" b="1">
                <a:solidFill>
                  <a:srgbClr val="0F172A"/>
                </a:solidFill>
                <a:latin typeface="Calibri"/>
              </a:defRPr>
            </a:pPr>
            <a:r>
              <a:t>Why 24-Bin Histograms Win at the Limits</a:t>
            </a:r>
          </a:p>
          <a:p>
            <a:pPr>
              <a:spcAft>
                <a:spcPts val="600"/>
              </a:spcAft>
            </a:pPr>
            <a:r>
              <a:rPr sz="1000" b="1">
                <a:solidFill>
                  <a:srgbClr val="0F172A"/>
                </a:solidFill>
                <a:latin typeface="Calibri"/>
              </a:rPr>
              <a:t>The Gaussian Boundary Trap: </a:t>
            </a:r>
            <a:r>
              <a:rPr sz="1000">
                <a:solidFill>
                  <a:srgbClr val="0F172A"/>
                </a:solidFill>
                <a:latin typeface="Calibri"/>
              </a:rPr>
              <a:t>Gaussian bell curves stretch to infinity. In a battery, energy cannot physically drop below 0 Joules or exceed E_max = 0.5 Joules! Gaussian math creates false probabilities.</a:t>
            </a:r>
          </a:p>
          <a:p>
            <a:pPr>
              <a:spcAft>
                <a:spcPts val="600"/>
              </a:spcAft>
            </a:pPr>
            <a:r>
              <a:rPr sz="1000" b="1">
                <a:solidFill>
                  <a:srgbClr val="0F172A"/>
                </a:solidFill>
                <a:latin typeface="Calibri"/>
              </a:rPr>
              <a:t>Exact Boundary Mass Clipping: </a:t>
            </a:r>
            <a:r>
              <a:rPr sz="1000">
                <a:solidFill>
                  <a:srgbClr val="0F172A"/>
                </a:solidFill>
                <a:latin typeface="Calibri"/>
              </a:rPr>
              <a:t>Our 24-bin histogram explicitly clips probability mass: negative energy shifts into Bin 0 (brownout probability); excess solar shifts into Bin 23 (saturation).</a:t>
            </a:r>
          </a:p>
          <a:p>
            <a:pPr>
              <a:spcAft>
                <a:spcPts val="600"/>
              </a:spcAft>
            </a:pPr>
            <a:r>
              <a:rPr sz="1000" b="1">
                <a:solidFill>
                  <a:srgbClr val="0F172A"/>
                </a:solidFill>
                <a:latin typeface="Calibri"/>
              </a:rPr>
              <a:t>Log-Domain Max-Product Confidence Routing: </a:t>
            </a:r>
            <a:r>
              <a:rPr sz="1000">
                <a:solidFill>
                  <a:srgbClr val="0F172A"/>
                </a:solidFill>
                <a:latin typeface="Calibri"/>
              </a:rPr>
              <a:t>Maximizes the mathematical probability that all hops survive:</a:t>
            </a:r>
          </a:p>
        </p:txBody>
      </p:sp>
      <p:pic>
        <p:nvPicPr>
          <p:cNvPr id="11" name="Picture 10" descr="eq_6.png"/>
          <p:cNvPicPr>
            <a:picLocks noChangeAspect="1"/>
          </p:cNvPicPr>
          <p:nvPr/>
        </p:nvPicPr>
        <p:blipFill>
          <a:blip r:embed="rId2"/>
          <a:stretch>
            <a:fillRect/>
          </a:stretch>
        </p:blipFill>
        <p:spPr>
          <a:xfrm>
            <a:off x="6430975" y="3840480"/>
            <a:ext cx="4846320" cy="606211"/>
          </a:xfrm>
          <a:prstGeom prst="rect">
            <a:avLst/>
          </a:prstGeom>
        </p:spPr>
      </p:pic>
      <p:sp>
        <p:nvSpPr>
          <p:cNvPr id="12" name="TextBox 11"/>
          <p:cNvSpPr txBox="1"/>
          <p:nvPr/>
        </p:nvSpPr>
        <p:spPr>
          <a:xfrm>
            <a:off x="6430975" y="4434840"/>
            <a:ext cx="4846320" cy="1645920"/>
          </a:xfrm>
          <a:prstGeom prst="rect">
            <a:avLst/>
          </a:prstGeom>
          <a:noFill/>
        </p:spPr>
        <p:txBody>
          <a:bodyPr wrap="square">
            <a:spAutoFit/>
          </a:bodyPr>
          <a:lstStyle/>
          <a:p/>
          <a:p>
            <a:pPr>
              <a:spcAft>
                <a:spcPts val="600"/>
              </a:spcAft>
            </a:pPr>
            <a:r>
              <a:rPr sz="950" b="1">
                <a:solidFill>
                  <a:srgbClr val="0F172A"/>
                </a:solidFill>
                <a:latin typeface="Calibri"/>
              </a:rPr>
              <a:t>Censored Evidence Updates: </a:t>
            </a:r>
            <a:r>
              <a:rPr sz="950">
                <a:solidFill>
                  <a:srgbClr val="0F172A"/>
                </a:solidFill>
                <a:latin typeface="Calibri"/>
              </a:rPr>
              <a:t>When a packet drops, the router updates its belief: P(E &lt; E_tx) = 1.0, instantly zeroing out higher probability bins without waiting for telemetry.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CODEBASE ARCHITECTURE</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Under the Hood: How We Structured the 4,000+ Lines of Code</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11 / 21</a:t>
            </a:r>
          </a:p>
        </p:txBody>
      </p:sp>
      <p:graphicFrame>
        <p:nvGraphicFramePr>
          <p:cNvPr id="7" name="Table 6"/>
          <p:cNvGraphicFramePr>
            <a:graphicFrameLocks noGrp="1"/>
          </p:cNvGraphicFramePr>
          <p:nvPr/>
        </p:nvGraphicFramePr>
        <p:xfrm>
          <a:off x="731520" y="1463040"/>
          <a:ext cx="10728655" cy="3566160"/>
        </p:xfrm>
        <a:graphic>
          <a:graphicData uri="http://schemas.openxmlformats.org/drawingml/2006/table">
            <a:tbl>
              <a:tblPr firstRow="1" bandRow="1">
                <a:tableStyleId>{5C22544A-7EE6-4342-B048-85BDC9FD1C3A}</a:tableStyleId>
              </a:tblPr>
              <a:tblGrid>
                <a:gridCol w="1645920"/>
                <a:gridCol w="2011680"/>
                <a:gridCol w="5790895"/>
                <a:gridCol w="1280160"/>
              </a:tblGrid>
              <a:tr h="509451">
                <a:tc>
                  <a:txBody>
                    <a:bodyPr/>
                    <a:lstStyle/>
                    <a:p>
                      <a:pPr>
                        <a:defRPr sz="1000" b="1">
                          <a:solidFill>
                            <a:srgbClr val="FFFFFF"/>
                          </a:solidFill>
                          <a:latin typeface="Calibri"/>
                        </a:defRPr>
                      </a:pPr>
                      <a:r>
                        <a:t>Directory</a:t>
                      </a:r>
                    </a:p>
                  </a:txBody>
                  <a:tcPr>
                    <a:solidFill>
                      <a:srgbClr val="0F172A"/>
                    </a:solidFill>
                  </a:tcPr>
                </a:tc>
                <a:tc>
                  <a:txBody>
                    <a:bodyPr/>
                    <a:lstStyle/>
                    <a:p>
                      <a:pPr>
                        <a:defRPr sz="1000" b="1">
                          <a:solidFill>
                            <a:srgbClr val="FFFFFF"/>
                          </a:solidFill>
                          <a:latin typeface="Calibri"/>
                        </a:defRPr>
                      </a:pPr>
                      <a:r>
                        <a:t>Key Module</a:t>
                      </a:r>
                    </a:p>
                  </a:txBody>
                  <a:tcPr>
                    <a:solidFill>
                      <a:srgbClr val="0F172A"/>
                    </a:solidFill>
                  </a:tcPr>
                </a:tc>
                <a:tc>
                  <a:txBody>
                    <a:bodyPr/>
                    <a:lstStyle/>
                    <a:p>
                      <a:pPr>
                        <a:defRPr sz="1000" b="1">
                          <a:solidFill>
                            <a:srgbClr val="FFFFFF"/>
                          </a:solidFill>
                          <a:latin typeface="Calibri"/>
                        </a:defRPr>
                      </a:pPr>
                      <a:r>
                        <a:t>Plain English Responsibility</a:t>
                      </a:r>
                    </a:p>
                  </a:txBody>
                  <a:tcPr>
                    <a:solidFill>
                      <a:srgbClr val="0F172A"/>
                    </a:solidFill>
                  </a:tcPr>
                </a:tc>
                <a:tc>
                  <a:txBody>
                    <a:bodyPr/>
                    <a:lstStyle/>
                    <a:p>
                      <a:pPr>
                        <a:defRPr sz="1000" b="1">
                          <a:solidFill>
                            <a:srgbClr val="FFFFFF"/>
                          </a:solidFill>
                          <a:latin typeface="Calibri"/>
                        </a:defRPr>
                      </a:pPr>
                      <a:r>
                        <a:t>Lines of Code</a:t>
                      </a:r>
                    </a:p>
                  </a:txBody>
                  <a:tcPr>
                    <a:solidFill>
                      <a:srgbClr val="0F172A"/>
                    </a:solidFill>
                  </a:tcPr>
                </a:tc>
              </a:tr>
              <a:tr h="509451">
                <a:tc>
                  <a:txBody>
                    <a:bodyPr/>
                    <a:lstStyle/>
                    <a:p>
                      <a:pPr>
                        <a:defRPr sz="950">
                          <a:solidFill>
                            <a:srgbClr val="1E293B"/>
                          </a:solidFill>
                          <a:latin typeface="Consolas"/>
                        </a:defRPr>
                      </a:pPr>
                      <a:r>
                        <a:t>src/</a:t>
                      </a:r>
                    </a:p>
                  </a:txBody>
                  <a:tcPr>
                    <a:solidFill>
                      <a:srgbClr val="FFFFFF"/>
                    </a:solidFill>
                  </a:tcPr>
                </a:tc>
                <a:tc>
                  <a:txBody>
                    <a:bodyPr/>
                    <a:lstStyle/>
                    <a:p>
                      <a:pPr>
                        <a:defRPr sz="950">
                          <a:solidFill>
                            <a:srgbClr val="1E293B"/>
                          </a:solidFill>
                          <a:latin typeface="Consolas"/>
                        </a:defRPr>
                      </a:pPr>
                      <a:r>
                        <a:t>network.py, energy_model.py</a:t>
                      </a:r>
                    </a:p>
                  </a:txBody>
                  <a:tcPr>
                    <a:solidFill>
                      <a:srgbClr val="FFFFFF"/>
                    </a:solidFill>
                  </a:tcPr>
                </a:tc>
                <a:tc>
                  <a:txBody>
                    <a:bodyPr/>
                    <a:lstStyle/>
                    <a:p>
                      <a:pPr>
                        <a:defRPr sz="950">
                          <a:solidFill>
                            <a:srgbClr val="1E293B"/>
                          </a:solidFill>
                          <a:latin typeface="Calibri"/>
                        </a:defRPr>
                      </a:pPr>
                      <a:r>
                        <a:t>Euclidean graph adjacency, 1st-order radio model (d^2/d^4), Erx penalty</a:t>
                      </a:r>
                    </a:p>
                  </a:txBody>
                  <a:tcPr>
                    <a:solidFill>
                      <a:srgbClr val="FFFFFF"/>
                    </a:solidFill>
                  </a:tcPr>
                </a:tc>
                <a:tc>
                  <a:txBody>
                    <a:bodyPr/>
                    <a:lstStyle/>
                    <a:p>
                      <a:pPr algn="r">
                        <a:defRPr sz="950">
                          <a:solidFill>
                            <a:srgbClr val="1E293B"/>
                          </a:solidFill>
                          <a:latin typeface="Consolas"/>
                        </a:defRPr>
                      </a:pPr>
                      <a:r>
                        <a:t>425 LOC</a:t>
                      </a:r>
                    </a:p>
                  </a:txBody>
                  <a:tcPr>
                    <a:solidFill>
                      <a:srgbClr val="FFFFFF"/>
                    </a:solidFill>
                  </a:tcPr>
                </a:tc>
              </a:tr>
              <a:tr h="509451">
                <a:tc>
                  <a:txBody>
                    <a:bodyPr/>
                    <a:lstStyle/>
                    <a:p>
                      <a:pPr>
                        <a:defRPr sz="950">
                          <a:solidFill>
                            <a:srgbClr val="1E293B"/>
                          </a:solidFill>
                          <a:latin typeface="Consolas"/>
                        </a:defRPr>
                      </a:pPr>
                      <a:r>
                        <a:t>src/</a:t>
                      </a:r>
                    </a:p>
                  </a:txBody>
                  <a:tcPr>
                    <a:solidFill>
                      <a:srgbClr val="F8FAFC"/>
                    </a:solidFill>
                  </a:tcPr>
                </a:tc>
                <a:tc>
                  <a:txBody>
                    <a:bodyPr/>
                    <a:lstStyle/>
                    <a:p>
                      <a:pPr>
                        <a:defRPr sz="950">
                          <a:solidFill>
                            <a:srgbClr val="1E293B"/>
                          </a:solidFill>
                          <a:latin typeface="Consolas"/>
                        </a:defRPr>
                      </a:pPr>
                      <a:r>
                        <a:t>dp_lifetime.py, routing.py</a:t>
                      </a:r>
                    </a:p>
                  </a:txBody>
                  <a:tcPr>
                    <a:solidFill>
                      <a:srgbClr val="F8FAFC"/>
                    </a:solidFill>
                  </a:tcPr>
                </a:tc>
                <a:tc>
                  <a:txBody>
                    <a:bodyPr/>
                    <a:lstStyle/>
                    <a:p>
                      <a:pPr>
                        <a:defRPr sz="950">
                          <a:solidFill>
                            <a:srgbClr val="1E293B"/>
                          </a:solidFill>
                          <a:latin typeface="Calibri"/>
                        </a:defRPr>
                      </a:pPr>
                      <a:r>
                        <a:t>3D Lookahead DP (dp[v][h][t]), DSU live detour recovery, Dijkstra</a:t>
                      </a:r>
                    </a:p>
                  </a:txBody>
                  <a:tcPr>
                    <a:solidFill>
                      <a:srgbClr val="F8FAFC"/>
                    </a:solidFill>
                  </a:tcPr>
                </a:tc>
                <a:tc>
                  <a:txBody>
                    <a:bodyPr/>
                    <a:lstStyle/>
                    <a:p>
                      <a:pPr algn="r">
                        <a:defRPr sz="950">
                          <a:solidFill>
                            <a:srgbClr val="1E293B"/>
                          </a:solidFill>
                          <a:latin typeface="Consolas"/>
                        </a:defRPr>
                      </a:pPr>
                      <a:r>
                        <a:t>535 LOC</a:t>
                      </a:r>
                    </a:p>
                  </a:txBody>
                  <a:tcPr>
                    <a:solidFill>
                      <a:srgbClr val="F8FAFC"/>
                    </a:solidFill>
                  </a:tcPr>
                </a:tc>
              </a:tr>
              <a:tr h="509451">
                <a:tc>
                  <a:txBody>
                    <a:bodyPr/>
                    <a:lstStyle/>
                    <a:p>
                      <a:pPr>
                        <a:defRPr sz="950">
                          <a:solidFill>
                            <a:srgbClr val="1E293B"/>
                          </a:solidFill>
                          <a:latin typeface="Consolas"/>
                        </a:defRPr>
                      </a:pPr>
                      <a:r>
                        <a:t>src/</a:t>
                      </a:r>
                    </a:p>
                  </a:txBody>
                  <a:tcPr>
                    <a:solidFill>
                      <a:srgbClr val="FFFFFF"/>
                    </a:solidFill>
                  </a:tcPr>
                </a:tc>
                <a:tc>
                  <a:txBody>
                    <a:bodyPr/>
                    <a:lstStyle/>
                    <a:p>
                      <a:pPr>
                        <a:defRPr sz="950">
                          <a:solidFill>
                            <a:srgbClr val="1E293B"/>
                          </a:solidFill>
                          <a:latin typeface="Consolas"/>
                        </a:defRPr>
                      </a:pPr>
                      <a:r>
                        <a:t>clustering.py, energy_view.py</a:t>
                      </a:r>
                    </a:p>
                  </a:txBody>
                  <a:tcPr>
                    <a:solidFill>
                      <a:srgbClr val="FFFFFF"/>
                    </a:solidFill>
                  </a:tcPr>
                </a:tc>
                <a:tc>
                  <a:txBody>
                    <a:bodyPr/>
                    <a:lstStyle/>
                    <a:p>
                      <a:pPr>
                        <a:defRPr sz="950">
                          <a:solidFill>
                            <a:srgbClr val="1E293B"/>
                          </a:solidFill>
                          <a:latin typeface="Calibri"/>
                        </a:defRPr>
                      </a:pPr>
                      <a:r>
                        <a:t>EH-LEACH solar threshold rotation, 24-bin histogram belief filter</a:t>
                      </a:r>
                    </a:p>
                  </a:txBody>
                  <a:tcPr>
                    <a:solidFill>
                      <a:srgbClr val="FFFFFF"/>
                    </a:solidFill>
                  </a:tcPr>
                </a:tc>
                <a:tc>
                  <a:txBody>
                    <a:bodyPr/>
                    <a:lstStyle/>
                    <a:p>
                      <a:pPr algn="r">
                        <a:defRPr sz="950">
                          <a:solidFill>
                            <a:srgbClr val="1E293B"/>
                          </a:solidFill>
                          <a:latin typeface="Consolas"/>
                        </a:defRPr>
                      </a:pPr>
                      <a:r>
                        <a:t>445 LOC</a:t>
                      </a:r>
                    </a:p>
                  </a:txBody>
                  <a:tcPr>
                    <a:solidFill>
                      <a:srgbClr val="FFFFFF"/>
                    </a:solidFill>
                  </a:tcPr>
                </a:tc>
              </a:tr>
              <a:tr h="509451">
                <a:tc>
                  <a:txBody>
                    <a:bodyPr/>
                    <a:lstStyle/>
                    <a:p>
                      <a:pPr>
                        <a:defRPr sz="950">
                          <a:solidFill>
                            <a:srgbClr val="1E293B"/>
                          </a:solidFill>
                          <a:latin typeface="Consolas"/>
                        </a:defRPr>
                      </a:pPr>
                      <a:r>
                        <a:t>src/</a:t>
                      </a:r>
                    </a:p>
                  </a:txBody>
                  <a:tcPr>
                    <a:solidFill>
                      <a:srgbClr val="F8FAFC"/>
                    </a:solidFill>
                  </a:tcPr>
                </a:tc>
                <a:tc>
                  <a:txBody>
                    <a:bodyPr/>
                    <a:lstStyle/>
                    <a:p>
                      <a:pPr>
                        <a:defRPr sz="950">
                          <a:solidFill>
                            <a:srgbClr val="1E293B"/>
                          </a:solidFill>
                          <a:latin typeface="Consolas"/>
                        </a:defRPr>
                      </a:pPr>
                      <a:r>
                        <a:t>harvesting_model.py, simulator.py</a:t>
                      </a:r>
                    </a:p>
                  </a:txBody>
                  <a:tcPr>
                    <a:solidFill>
                      <a:srgbClr val="F8FAFC"/>
                    </a:solidFill>
                  </a:tcPr>
                </a:tc>
                <a:tc>
                  <a:txBody>
                    <a:bodyPr/>
                    <a:lstStyle/>
                    <a:p>
                      <a:pPr>
                        <a:defRPr sz="950">
                          <a:solidFill>
                            <a:srgbClr val="1E293B"/>
                          </a:solidFill>
                          <a:latin typeface="Calibri"/>
                        </a:defRPr>
                      </a:pPr>
                      <a:r>
                        <a:t>Diurnal solar, canopy shadows, Poisson bursts, discrete-round loop</a:t>
                      </a:r>
                    </a:p>
                  </a:txBody>
                  <a:tcPr>
                    <a:solidFill>
                      <a:srgbClr val="F8FAFC"/>
                    </a:solidFill>
                  </a:tcPr>
                </a:tc>
                <a:tc>
                  <a:txBody>
                    <a:bodyPr/>
                    <a:lstStyle/>
                    <a:p>
                      <a:pPr algn="r">
                        <a:defRPr sz="950">
                          <a:solidFill>
                            <a:srgbClr val="1E293B"/>
                          </a:solidFill>
                          <a:latin typeface="Consolas"/>
                        </a:defRPr>
                      </a:pPr>
                      <a:r>
                        <a:t>585 LOC</a:t>
                      </a:r>
                    </a:p>
                  </a:txBody>
                  <a:tcPr>
                    <a:solidFill>
                      <a:srgbClr val="F8FAFC"/>
                    </a:solidFill>
                  </a:tcPr>
                </a:tc>
              </a:tr>
              <a:tr h="509451">
                <a:tc>
                  <a:txBody>
                    <a:bodyPr/>
                    <a:lstStyle/>
                    <a:p>
                      <a:pPr>
                        <a:defRPr sz="950">
                          <a:solidFill>
                            <a:srgbClr val="1E293B"/>
                          </a:solidFill>
                          <a:latin typeface="Consolas"/>
                        </a:defRPr>
                      </a:pPr>
                      <a:r>
                        <a:t>backend/</a:t>
                      </a:r>
                    </a:p>
                  </a:txBody>
                  <a:tcPr>
                    <a:solidFill>
                      <a:srgbClr val="FFFFFF"/>
                    </a:solidFill>
                  </a:tcPr>
                </a:tc>
                <a:tc>
                  <a:txBody>
                    <a:bodyPr/>
                    <a:lstStyle/>
                    <a:p>
                      <a:pPr>
                        <a:defRPr sz="950">
                          <a:solidFill>
                            <a:srgbClr val="1E293B"/>
                          </a:solidFill>
                          <a:latin typeface="Consolas"/>
                        </a:defRPr>
                      </a:pPr>
                      <a:r>
                        <a:t>main.py, database.py</a:t>
                      </a:r>
                    </a:p>
                  </a:txBody>
                  <a:tcPr>
                    <a:solidFill>
                      <a:srgbClr val="FFFFFF"/>
                    </a:solidFill>
                  </a:tcPr>
                </a:tc>
                <a:tc>
                  <a:txBody>
                    <a:bodyPr/>
                    <a:lstStyle/>
                    <a:p>
                      <a:pPr>
                        <a:defRPr sz="950">
                          <a:solidFill>
                            <a:srgbClr val="1E293B"/>
                          </a:solidFill>
                          <a:latin typeface="Calibri"/>
                        </a:defRPr>
                      </a:pPr>
                      <a:r>
                        <a:t>FastAPI REST API, async threadpool execution, SQLite run history</a:t>
                      </a:r>
                    </a:p>
                  </a:txBody>
                  <a:tcPr>
                    <a:solidFill>
                      <a:srgbClr val="FFFFFF"/>
                    </a:solidFill>
                  </a:tcPr>
                </a:tc>
                <a:tc>
                  <a:txBody>
                    <a:bodyPr/>
                    <a:lstStyle/>
                    <a:p>
                      <a:pPr algn="r">
                        <a:defRPr sz="950">
                          <a:solidFill>
                            <a:srgbClr val="1E293B"/>
                          </a:solidFill>
                          <a:latin typeface="Consolas"/>
                        </a:defRPr>
                      </a:pPr>
                      <a:r>
                        <a:t>290 LOC</a:t>
                      </a:r>
                    </a:p>
                  </a:txBody>
                  <a:tcPr>
                    <a:solidFill>
                      <a:srgbClr val="FFFFFF"/>
                    </a:solidFill>
                  </a:tcPr>
                </a:tc>
              </a:tr>
              <a:tr h="509454">
                <a:tc>
                  <a:txBody>
                    <a:bodyPr/>
                    <a:lstStyle/>
                    <a:p>
                      <a:pPr>
                        <a:defRPr sz="950">
                          <a:solidFill>
                            <a:srgbClr val="1E293B"/>
                          </a:solidFill>
                          <a:latin typeface="Consolas"/>
                        </a:defRPr>
                      </a:pPr>
                      <a:r>
                        <a:t>frontend/</a:t>
                      </a:r>
                    </a:p>
                  </a:txBody>
                  <a:tcPr>
                    <a:solidFill>
                      <a:srgbClr val="F8FAFC"/>
                    </a:solidFill>
                  </a:tcPr>
                </a:tc>
                <a:tc>
                  <a:txBody>
                    <a:bodyPr/>
                    <a:lstStyle/>
                    <a:p>
                      <a:pPr>
                        <a:defRPr sz="950">
                          <a:solidFill>
                            <a:srgbClr val="1E293B"/>
                          </a:solidFill>
                          <a:latin typeface="Consolas"/>
                        </a:defRPr>
                      </a:pPr>
                      <a:r>
                        <a:t>src/ (React 19 + TypeScript)</a:t>
                      </a:r>
                    </a:p>
                  </a:txBody>
                  <a:tcPr>
                    <a:solidFill>
                      <a:srgbClr val="F8FAFC"/>
                    </a:solidFill>
                  </a:tcPr>
                </a:tc>
                <a:tc>
                  <a:txBody>
                    <a:bodyPr/>
                    <a:lstStyle/>
                    <a:p>
                      <a:pPr>
                        <a:defRPr sz="950">
                          <a:solidFill>
                            <a:srgbClr val="1E293B"/>
                          </a:solidFill>
                          <a:latin typeface="Calibri"/>
                        </a:defRPr>
                      </a:pPr>
                      <a:r>
                        <a:t>Interactive SVG canvas, timeline scrubber, spatial heatmap, Recharts</a:t>
                      </a:r>
                    </a:p>
                  </a:txBody>
                  <a:tcPr>
                    <a:solidFill>
                      <a:srgbClr val="F8FAFC"/>
                    </a:solidFill>
                  </a:tcPr>
                </a:tc>
                <a:tc>
                  <a:txBody>
                    <a:bodyPr/>
                    <a:lstStyle/>
                    <a:p>
                      <a:pPr algn="r">
                        <a:defRPr sz="950">
                          <a:solidFill>
                            <a:srgbClr val="1E293B"/>
                          </a:solidFill>
                          <a:latin typeface="Consolas"/>
                        </a:defRPr>
                      </a:pPr>
                      <a:r>
                        <a:t>~1,850 LOC</a:t>
                      </a:r>
                    </a:p>
                  </a:txBody>
                  <a:tcPr>
                    <a:solidFill>
                      <a:srgbClr val="F8FAFC"/>
                    </a:solidFill>
                  </a:tcPr>
                </a:tc>
              </a:tr>
            </a:tbl>
          </a:graphicData>
        </a:graphic>
      </p:graphicFrame>
      <p:sp>
        <p:nvSpPr>
          <p:cNvPr id="8" name="Rounded Rectangle 7"/>
          <p:cNvSpPr/>
          <p:nvPr/>
        </p:nvSpPr>
        <p:spPr>
          <a:xfrm>
            <a:off x="731520" y="5212080"/>
            <a:ext cx="10728655" cy="100584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257800"/>
            <a:ext cx="10362895" cy="914400"/>
          </a:xfrm>
          <a:prstGeom prst="rect">
            <a:avLst/>
          </a:prstGeom>
          <a:noFill/>
        </p:spPr>
        <p:txBody>
          <a:bodyPr wrap="square">
            <a:spAutoFit/>
          </a:bodyPr>
          <a:lstStyle/>
          <a:p>
            <a:pPr>
              <a:defRPr sz="1000" b="1">
                <a:solidFill>
                  <a:srgbClr val="0D9488"/>
                </a:solidFill>
                <a:latin typeface="Calibri"/>
              </a:defRPr>
            </a:pPr>
            <a:r>
              <a:t>THREE DECOUPLED TIERS: BUILT FOR RESEARCH &amp; REAL HARDWARE:</a:t>
            </a:r>
          </a:p>
          <a:p>
            <a:pPr>
              <a:defRPr sz="950">
                <a:solidFill>
                  <a:srgbClr val="0F172A"/>
                </a:solidFill>
                <a:latin typeface="Calibri"/>
              </a:defRPr>
            </a:pPr>
            <a:r>
              <a:t>- Tier 1 (Headless Simulation Core): Pure Python 3.12 without GUI dependencies. Can run batch sweeps in parallel or be ported to embedded C.</a:t>
            </a:r>
            <a:br/>
            <a:r>
              <a:t>- Tier 2 (Asynchronous Backend): FastAPI REST service with SQLite persistence, offloading heavy simulation sweeps to worker threads.</a:t>
            </a:r>
            <a:br/>
            <a:r>
              <a:t>- Tier 3 (Client-Side Dashboard): React 19 single-page application with SVG animations, timeline playback, and Recharts analytics.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CODE WALKTHROUGH</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A Look at the Code: Real Python Logic Running the System</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12 / 21</a:t>
            </a:r>
          </a:p>
        </p:txBody>
      </p:sp>
      <p:sp>
        <p:nvSpPr>
          <p:cNvPr id="7" name="Rounded Rectangle 6"/>
          <p:cNvSpPr/>
          <p:nvPr/>
        </p:nvSpPr>
        <p:spPr>
          <a:xfrm>
            <a:off x="731520" y="1463040"/>
            <a:ext cx="5212080" cy="4663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846320" cy="365760"/>
          </a:xfrm>
          <a:prstGeom prst="rect">
            <a:avLst/>
          </a:prstGeom>
          <a:noFill/>
        </p:spPr>
        <p:txBody>
          <a:bodyPr wrap="none">
            <a:spAutoFit/>
          </a:bodyPr>
          <a:lstStyle/>
          <a:p>
            <a:pPr>
              <a:defRPr sz="1200" b="1">
                <a:solidFill>
                  <a:srgbClr val="2563EB"/>
                </a:solidFill>
                <a:latin typeface="Calibri"/>
              </a:defRPr>
            </a:pPr>
            <a:r>
              <a:t>3D Lookahead DP (src/dp_lifetime.py)</a:t>
            </a:r>
          </a:p>
        </p:txBody>
      </p:sp>
      <p:sp>
        <p:nvSpPr>
          <p:cNvPr id="9" name="TextBox 8"/>
          <p:cNvSpPr txBox="1"/>
          <p:nvPr/>
        </p:nvSpPr>
        <p:spPr>
          <a:xfrm>
            <a:off x="822960" y="1920240"/>
            <a:ext cx="5029200" cy="4114800"/>
          </a:xfrm>
          <a:prstGeom prst="rect">
            <a:avLst/>
          </a:prstGeom>
          <a:noFill/>
        </p:spPr>
        <p:txBody>
          <a:bodyPr wrap="square">
            <a:spAutoFit/>
          </a:bodyPr>
          <a:lstStyle/>
          <a:p>
            <a:pPr>
              <a:defRPr sz="850">
                <a:solidFill>
                  <a:srgbClr val="0F172A"/>
                </a:solidFill>
                <a:latin typeface="Consolas"/>
              </a:defRPr>
            </a:pPr>
            <a:r>
              <a:t>def compute_time_augmented_dp(network, source, target,</a:t>
            </a:r>
            <a:br/>
            <a:r>
              <a:t>                              max_hops=8, delta_t=1):</a:t>
            </a:r>
            <a:br/>
            <a:r>
              <a:t>    dp = defaultdict(lambda: -float('inf'))</a:t>
            </a:r>
            <a:br/>
            <a:r>
              <a:t>    parent = {}</a:t>
            </a:r>
            <a:br/>
            <a:r>
              <a:t>    dp[(source, 0, 0)] = network.nodes[source].energy</a:t>
            </a:r>
            <a:br/>
            <a:br/>
            <a:r>
              <a:t>    for h in range(1, max_hops + 1):</a:t>
            </a:r>
            <a:br/>
            <a:r>
              <a:t>        t = h * delta_t</a:t>
            </a:r>
            <a:br/>
            <a:r>
              <a:t>        for v in network.nodes:</a:t>
            </a:r>
            <a:br/>
            <a:r>
              <a:t>            for u in network.get_incoming_neighbors(v):</a:t>
            </a:r>
            <a:br/>
            <a:r>
              <a:t>                prev_e = dp.get((u, h-1, t-delta_t), -inf)</a:t>
            </a:r>
            <a:br/>
            <a:r>
              <a:t>                cost_tx = network.calc_tx_cost(u, v)</a:t>
            </a:r>
            <a:br/>
            <a:r>
              <a:t>                if prev_e &lt; cost_tx: </a:t>
            </a:r>
            <a:br/>
            <a:r>
              <a:t>                    continue  # Prune infeasible hop</a:t>
            </a:r>
            <a:br/>
            <a:r>
              <a:t>                </a:t>
            </a:r>
            <a:br/>
            <a:r>
              <a:t>                # Project recharge at arrival time t!</a:t>
            </a:r>
            <a:br/>
            <a:r>
              <a:t>                proj_v = network.project_energy(v, t) - \</a:t>
            </a:r>
            <a:br/>
            <a:r>
              <a:t>                         (network.E_rx if v != target else 0)</a:t>
            </a:r>
            <a:br/>
            <a:r>
              <a:t>                bottleneck = min(prev_e, proj_v)</a:t>
            </a:r>
            <a:br/>
            <a:r>
              <a:t>                if bottleneck &gt; dp[(v, h, t)]:</a:t>
            </a:r>
            <a:br/>
            <a:r>
              <a:t>                    dp[(v, h, t)] = bottleneck</a:t>
            </a:r>
            <a:br/>
            <a:r>
              <a:t>                    parent[(v, h, t)] = u</a:t>
            </a:r>
            <a:br/>
            <a:r>
              <a:t>    return reconstruct_path(parent, target, dp)</a:t>
            </a:r>
          </a:p>
        </p:txBody>
      </p:sp>
      <p:sp>
        <p:nvSpPr>
          <p:cNvPr id="10" name="Rounded Rectangle 9"/>
          <p:cNvSpPr/>
          <p:nvPr/>
        </p:nvSpPr>
        <p:spPr>
          <a:xfrm>
            <a:off x="6248095" y="1463040"/>
            <a:ext cx="5212080" cy="4663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554480"/>
            <a:ext cx="4846320" cy="365760"/>
          </a:xfrm>
          <a:prstGeom prst="rect">
            <a:avLst/>
          </a:prstGeom>
          <a:noFill/>
        </p:spPr>
        <p:txBody>
          <a:bodyPr wrap="none">
            <a:spAutoFit/>
          </a:bodyPr>
          <a:lstStyle/>
          <a:p>
            <a:pPr>
              <a:defRPr sz="1200" b="1">
                <a:solidFill>
                  <a:srgbClr val="0D9488"/>
                </a:solidFill>
                <a:latin typeface="Calibri"/>
              </a:defRPr>
            </a:pPr>
            <a:r>
              <a:t>DSU Live Detour Repair (src/routing.py)</a:t>
            </a:r>
          </a:p>
        </p:txBody>
      </p:sp>
      <p:sp>
        <p:nvSpPr>
          <p:cNvPr id="12" name="TextBox 11"/>
          <p:cNvSpPr txBox="1"/>
          <p:nvPr/>
        </p:nvSpPr>
        <p:spPr>
          <a:xfrm>
            <a:off x="6339535" y="1920240"/>
            <a:ext cx="5029200" cy="4114800"/>
          </a:xfrm>
          <a:prstGeom prst="rect">
            <a:avLst/>
          </a:prstGeom>
          <a:noFill/>
        </p:spPr>
        <p:txBody>
          <a:bodyPr wrap="square">
            <a:spAutoFit/>
          </a:bodyPr>
          <a:lstStyle/>
          <a:p>
            <a:pPr>
              <a:defRPr sz="850">
                <a:solidFill>
                  <a:srgbClr val="0F172A"/>
                </a:solidFill>
                <a:latin typeface="Consolas"/>
              </a:defRPr>
            </a:pPr>
            <a:r>
              <a:t>class UnionFind:</a:t>
            </a:r>
            <a:br/>
            <a:r>
              <a:t>    def find(self, x):</a:t>
            </a:r>
            <a:br/>
            <a:r>
              <a:t>        if self.parent[x] != x:</a:t>
            </a:r>
            <a:br/>
            <a:r>
              <a:t>            self.parent[x] = self.find(self.parent[x]) # Path compression</a:t>
            </a:r>
            <a:br/>
            <a:r>
              <a:t>        return self.parent[x]</a:t>
            </a:r>
            <a:br/>
            <a:br/>
            <a:r>
              <a:t>    def union(self, x, y):</a:t>
            </a:r>
            <a:br/>
            <a:r>
              <a:t>        rx, ry = self.find(x), self.find(y)</a:t>
            </a:r>
            <a:br/>
            <a:r>
              <a:t>        if rx == ry: return False</a:t>
            </a:r>
            <a:br/>
            <a:r>
              <a:t>        if self.rank[rx] &lt; self.rank[ry]: rx, ry = ry, rx</a:t>
            </a:r>
            <a:br/>
            <a:r>
              <a:t>        self.parent[ry] = rx</a:t>
            </a:r>
            <a:br/>
            <a:r>
              <a:t>        if self.rank[rx] == self.rank[ry]: self.rank[rx] += 1</a:t>
            </a:r>
            <a:br/>
            <a:r>
              <a:t>        return True</a:t>
            </a:r>
            <a:br/>
            <a:br/>
            <a:r>
              <a:t>def repair_route_dsu(active_path, failed_idx, dsu, network):</a:t>
            </a:r>
            <a:br/>
            <a:r>
              <a:t>    u = active_path[failed_idx - 1] # Predecessor</a:t>
            </a:r>
            <a:br/>
            <a:r>
              <a:t>    bs_root = dsu.find(network.base_station_id)</a:t>
            </a:r>
            <a:br/>
            <a:r>
              <a:t>    # Check neighbors connected to BS component</a:t>
            </a:r>
            <a:br/>
            <a:r>
              <a:t>    candidates = [b for b in network.neighbors(u)</a:t>
            </a:r>
            <a:br/>
            <a:r>
              <a:t>                  if b != active_path[failed_idx] and</a:t>
            </a:r>
            <a:br/>
            <a:r>
              <a:t>                  dsu.find(b) == bs_root and</a:t>
            </a:r>
            <a:br/>
            <a:r>
              <a:t>                  network.can_transmit(u, b)]</a:t>
            </a:r>
            <a:br/>
            <a:r>
              <a:t>    if not candidates: return None # Partitioned</a:t>
            </a:r>
            <a:br/>
            <a:r>
              <a:t>    best = min(candidates, key=lambda b: network.calc_tx_cost(u, b))</a:t>
            </a:r>
            <a:br/>
            <a:r>
              <a:t>    return active_path[:failed_idx] + [best, network.bs_id]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USER INTERFACE</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The Web Dashboard: Watching Sensor Routes Adapt Live</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13 / 21</a:t>
            </a:r>
          </a:p>
        </p:txBody>
      </p:sp>
      <p:sp>
        <p:nvSpPr>
          <p:cNvPr id="7" name="Rounded Rectangle 6"/>
          <p:cNvSpPr/>
          <p:nvPr/>
        </p:nvSpPr>
        <p:spPr>
          <a:xfrm>
            <a:off x="731520"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846320" cy="365760"/>
          </a:xfrm>
          <a:prstGeom prst="rect">
            <a:avLst/>
          </a:prstGeom>
          <a:noFill/>
        </p:spPr>
        <p:txBody>
          <a:bodyPr wrap="none">
            <a:spAutoFit/>
          </a:bodyPr>
          <a:lstStyle/>
          <a:p>
            <a:pPr>
              <a:defRPr sz="1300" b="1">
                <a:solidFill>
                  <a:srgbClr val="0F172A"/>
                </a:solidFill>
                <a:latin typeface="Calibri"/>
              </a:defRPr>
            </a:pPr>
            <a:r>
              <a:t>Interactive SVG Topology Visualizer</a:t>
            </a:r>
          </a:p>
        </p:txBody>
      </p:sp>
      <p:pic>
        <p:nvPicPr>
          <p:cNvPr id="9" name="Picture 8" descr="01_topology_view.png"/>
          <p:cNvPicPr>
            <a:picLocks noChangeAspect="1"/>
          </p:cNvPicPr>
          <p:nvPr/>
        </p:nvPicPr>
        <p:blipFill>
          <a:blip r:embed="rId2"/>
          <a:stretch>
            <a:fillRect/>
          </a:stretch>
        </p:blipFill>
        <p:spPr>
          <a:xfrm>
            <a:off x="914400" y="1965960"/>
            <a:ext cx="4846320" cy="3028950"/>
          </a:xfrm>
          <a:prstGeom prst="rect">
            <a:avLst/>
          </a:prstGeom>
        </p:spPr>
      </p:pic>
      <p:sp>
        <p:nvSpPr>
          <p:cNvPr id="10" name="TextBox 9"/>
          <p:cNvSpPr txBox="1"/>
          <p:nvPr/>
        </p:nvSpPr>
        <p:spPr>
          <a:xfrm>
            <a:off x="914400" y="4709160"/>
            <a:ext cx="4846320" cy="1280160"/>
          </a:xfrm>
          <a:prstGeom prst="rect">
            <a:avLst/>
          </a:prstGeom>
          <a:noFill/>
        </p:spPr>
        <p:txBody>
          <a:bodyPr wrap="square">
            <a:spAutoFit/>
          </a:bodyPr>
          <a:lstStyle/>
          <a:p/>
          <a:p>
            <a:pPr>
              <a:spcAft>
                <a:spcPts val="600"/>
              </a:spcAft>
            </a:pPr>
            <a:r>
              <a:rPr sz="950" b="1">
                <a:solidFill>
                  <a:srgbClr val="0F172A"/>
                </a:solidFill>
                <a:latin typeface="Calibri"/>
              </a:rPr>
              <a:t>Real-Time SVG Canvas: </a:t>
            </a:r>
            <a:r>
              <a:rPr sz="950">
                <a:solidFill>
                  <a:srgbClr val="0F172A"/>
                </a:solidFill>
                <a:latin typeface="Calibri"/>
              </a:rPr>
              <a:t>Renders all 50 sensor nodes with color-coded operational states: Green (solar rich), Amber (draining relay), Red (browned out).</a:t>
            </a:r>
          </a:p>
          <a:p>
            <a:pPr>
              <a:spcAft>
                <a:spcPts val="600"/>
              </a:spcAft>
            </a:pPr>
            <a:r>
              <a:rPr sz="950" b="1">
                <a:solidFill>
                  <a:srgbClr val="0F172A"/>
                </a:solidFill>
                <a:latin typeface="Calibri"/>
              </a:rPr>
              <a:t>Dynamic Routing Vectors: </a:t>
            </a:r>
            <a:r>
              <a:rPr sz="950">
                <a:solidFill>
                  <a:srgbClr val="0F172A"/>
                </a:solidFill>
                <a:latin typeface="Calibri"/>
              </a:rPr>
              <a:t>Renders active forwarding paths and cluster head uplinks as directed vector arrows terminating at central Base Station (50, 50).</a:t>
            </a:r>
          </a:p>
        </p:txBody>
      </p:sp>
      <p:sp>
        <p:nvSpPr>
          <p:cNvPr id="11" name="Rounded Rectangle 10"/>
          <p:cNvSpPr/>
          <p:nvPr/>
        </p:nvSpPr>
        <p:spPr>
          <a:xfrm>
            <a:off x="6248095"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0975" y="1554480"/>
            <a:ext cx="4846320" cy="365760"/>
          </a:xfrm>
          <a:prstGeom prst="rect">
            <a:avLst/>
          </a:prstGeom>
          <a:noFill/>
        </p:spPr>
        <p:txBody>
          <a:bodyPr wrap="none">
            <a:spAutoFit/>
          </a:bodyPr>
          <a:lstStyle/>
          <a:p>
            <a:pPr>
              <a:defRPr sz="1300" b="1">
                <a:solidFill>
                  <a:srgbClr val="0F172A"/>
                </a:solidFill>
                <a:latin typeface="Calibri"/>
              </a:defRPr>
            </a:pPr>
            <a:r>
              <a:t>Timeline Playback Scrubber &amp; Speed Controls</a:t>
            </a:r>
          </a:p>
        </p:txBody>
      </p:sp>
      <p:pic>
        <p:nvPicPr>
          <p:cNvPr id="13" name="Picture 12" descr="02_playback_scrubber.png"/>
          <p:cNvPicPr>
            <a:picLocks noChangeAspect="1"/>
          </p:cNvPicPr>
          <p:nvPr/>
        </p:nvPicPr>
        <p:blipFill>
          <a:blip r:embed="rId3"/>
          <a:stretch>
            <a:fillRect/>
          </a:stretch>
        </p:blipFill>
        <p:spPr>
          <a:xfrm>
            <a:off x="6430975" y="1965960"/>
            <a:ext cx="4846320" cy="3028950"/>
          </a:xfrm>
          <a:prstGeom prst="rect">
            <a:avLst/>
          </a:prstGeom>
        </p:spPr>
      </p:pic>
      <p:sp>
        <p:nvSpPr>
          <p:cNvPr id="14" name="TextBox 13"/>
          <p:cNvSpPr txBox="1"/>
          <p:nvPr/>
        </p:nvSpPr>
        <p:spPr>
          <a:xfrm>
            <a:off x="6430975" y="4709160"/>
            <a:ext cx="4846320" cy="1280160"/>
          </a:xfrm>
          <a:prstGeom prst="rect">
            <a:avLst/>
          </a:prstGeom>
          <a:noFill/>
        </p:spPr>
        <p:txBody>
          <a:bodyPr wrap="square">
            <a:spAutoFit/>
          </a:bodyPr>
          <a:lstStyle/>
          <a:p/>
          <a:p>
            <a:pPr>
              <a:spcAft>
                <a:spcPts val="600"/>
              </a:spcAft>
            </a:pPr>
            <a:r>
              <a:rPr sz="950" b="1">
                <a:solidFill>
                  <a:srgbClr val="0F172A"/>
                </a:solidFill>
                <a:latin typeface="Calibri"/>
              </a:rPr>
              <a:t>Granular Time Scrubbing: </a:t>
            </a:r>
            <a:r>
              <a:rPr sz="950">
                <a:solidFill>
                  <a:srgbClr val="0F172A"/>
                </a:solidFill>
                <a:latin typeface="Calibri"/>
              </a:rPr>
              <a:t>Evaluators can scrub forward and backward round-by-round across 200+ rounds to inspect energy changes and route adjustments.</a:t>
            </a:r>
          </a:p>
          <a:p>
            <a:pPr>
              <a:spcAft>
                <a:spcPts val="600"/>
              </a:spcAft>
            </a:pPr>
            <a:r>
              <a:rPr sz="950" b="1">
                <a:solidFill>
                  <a:srgbClr val="0F172A"/>
                </a:solidFill>
                <a:latin typeface="Calibri"/>
              </a:rPr>
              <a:t>Playback Engine: </a:t>
            </a:r>
            <a:r>
              <a:rPr sz="950">
                <a:solidFill>
                  <a:srgbClr val="0F172A"/>
                </a:solidFill>
                <a:latin typeface="Calibri"/>
              </a:rPr>
              <a:t>Supports Play, Pause, Single-Step increment, and adjustable playback speeds (1x, 2x, 5x, 10x) with live telemetry HUD.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HEATMAPS &amp; ANALYTICS</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Heatmaps &amp; Analytics: Seeing Trouble Before It Happens</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14 / 21</a:t>
            </a:r>
          </a:p>
        </p:txBody>
      </p:sp>
      <p:sp>
        <p:nvSpPr>
          <p:cNvPr id="7" name="Rounded Rectangle 6"/>
          <p:cNvSpPr/>
          <p:nvPr/>
        </p:nvSpPr>
        <p:spPr>
          <a:xfrm>
            <a:off x="731520"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846320" cy="365760"/>
          </a:xfrm>
          <a:prstGeom prst="rect">
            <a:avLst/>
          </a:prstGeom>
          <a:noFill/>
        </p:spPr>
        <p:txBody>
          <a:bodyPr wrap="none">
            <a:spAutoFit/>
          </a:bodyPr>
          <a:lstStyle/>
          <a:p>
            <a:pPr>
              <a:defRPr sz="1300" b="1">
                <a:solidFill>
                  <a:srgbClr val="0F172A"/>
                </a:solidFill>
                <a:latin typeface="Calibri"/>
              </a:defRPr>
            </a:pPr>
            <a:r>
              <a:t>2D Spatial Energy Contour Heatmap</a:t>
            </a:r>
          </a:p>
        </p:txBody>
      </p:sp>
      <p:pic>
        <p:nvPicPr>
          <p:cNvPr id="9" name="Picture 8" descr="03_energy_heatmap.png"/>
          <p:cNvPicPr>
            <a:picLocks noChangeAspect="1"/>
          </p:cNvPicPr>
          <p:nvPr/>
        </p:nvPicPr>
        <p:blipFill>
          <a:blip r:embed="rId2"/>
          <a:stretch>
            <a:fillRect/>
          </a:stretch>
        </p:blipFill>
        <p:spPr>
          <a:xfrm>
            <a:off x="914400" y="1965960"/>
            <a:ext cx="4846320" cy="3028950"/>
          </a:xfrm>
          <a:prstGeom prst="rect">
            <a:avLst/>
          </a:prstGeom>
        </p:spPr>
      </p:pic>
      <p:sp>
        <p:nvSpPr>
          <p:cNvPr id="10" name="TextBox 9"/>
          <p:cNvSpPr txBox="1"/>
          <p:nvPr/>
        </p:nvSpPr>
        <p:spPr>
          <a:xfrm>
            <a:off x="914400" y="4709160"/>
            <a:ext cx="4846320" cy="1280160"/>
          </a:xfrm>
          <a:prstGeom prst="rect">
            <a:avLst/>
          </a:prstGeom>
          <a:noFill/>
        </p:spPr>
        <p:txBody>
          <a:bodyPr wrap="square">
            <a:spAutoFit/>
          </a:bodyPr>
          <a:lstStyle/>
          <a:p/>
          <a:p>
            <a:pPr>
              <a:spcAft>
                <a:spcPts val="600"/>
              </a:spcAft>
            </a:pPr>
            <a:r>
              <a:rPr sz="950" b="1">
                <a:solidFill>
                  <a:srgbClr val="0F172A"/>
                </a:solidFill>
                <a:latin typeface="Calibri"/>
              </a:rPr>
              <a:t>Spatial Energy Field: </a:t>
            </a:r>
            <a:r>
              <a:rPr sz="950">
                <a:solidFill>
                  <a:srgbClr val="0F172A"/>
                </a:solidFill>
                <a:latin typeface="Calibri"/>
              </a:rPr>
              <a:t>Renders battery density contours across the 100m x 100m field. High-density solar charging appears in bright teal/green.</a:t>
            </a:r>
          </a:p>
          <a:p>
            <a:pPr>
              <a:spcAft>
                <a:spcPts val="600"/>
              </a:spcAft>
            </a:pPr>
            <a:r>
              <a:rPr sz="950" b="1">
                <a:solidFill>
                  <a:srgbClr val="0F172A"/>
                </a:solidFill>
                <a:latin typeface="Calibri"/>
              </a:rPr>
              <a:t>Early Hotspot Detection: </a:t>
            </a:r>
            <a:r>
              <a:rPr sz="950">
                <a:solidFill>
                  <a:srgbClr val="0F172A"/>
                </a:solidFill>
                <a:latin typeface="Calibri"/>
              </a:rPr>
              <a:t>Canopy shadow zones and depleted relays appear in dark purple/blue, immediately exposing impending network disconnections.</a:t>
            </a:r>
          </a:p>
        </p:txBody>
      </p:sp>
      <p:sp>
        <p:nvSpPr>
          <p:cNvPr id="11" name="Rounded Rectangle 10"/>
          <p:cNvSpPr/>
          <p:nvPr/>
        </p:nvSpPr>
        <p:spPr>
          <a:xfrm>
            <a:off x="6248095"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0975" y="1554480"/>
            <a:ext cx="4846320" cy="365760"/>
          </a:xfrm>
          <a:prstGeom prst="rect">
            <a:avLst/>
          </a:prstGeom>
          <a:noFill/>
        </p:spPr>
        <p:txBody>
          <a:bodyPr wrap="none">
            <a:spAutoFit/>
          </a:bodyPr>
          <a:lstStyle/>
          <a:p>
            <a:pPr>
              <a:defRPr sz="1300" b="1">
                <a:solidFill>
                  <a:srgbClr val="0F172A"/>
                </a:solidFill>
                <a:latin typeface="Calibri"/>
              </a:defRPr>
            </a:pPr>
            <a:r>
              <a:t>Real-Time Telemetry &amp; Performance Analytics</a:t>
            </a:r>
          </a:p>
        </p:txBody>
      </p:sp>
      <p:pic>
        <p:nvPicPr>
          <p:cNvPr id="13" name="Picture 12" descr="04_analytics_charts.png"/>
          <p:cNvPicPr>
            <a:picLocks noChangeAspect="1"/>
          </p:cNvPicPr>
          <p:nvPr/>
        </p:nvPicPr>
        <p:blipFill>
          <a:blip r:embed="rId3"/>
          <a:stretch>
            <a:fillRect/>
          </a:stretch>
        </p:blipFill>
        <p:spPr>
          <a:xfrm>
            <a:off x="6430975" y="1965960"/>
            <a:ext cx="4846320" cy="3028950"/>
          </a:xfrm>
          <a:prstGeom prst="rect">
            <a:avLst/>
          </a:prstGeom>
        </p:spPr>
      </p:pic>
      <p:sp>
        <p:nvSpPr>
          <p:cNvPr id="14" name="TextBox 13"/>
          <p:cNvSpPr txBox="1"/>
          <p:nvPr/>
        </p:nvSpPr>
        <p:spPr>
          <a:xfrm>
            <a:off x="6430975" y="4709160"/>
            <a:ext cx="4846320" cy="1280160"/>
          </a:xfrm>
          <a:prstGeom prst="rect">
            <a:avLst/>
          </a:prstGeom>
          <a:noFill/>
        </p:spPr>
        <p:txBody>
          <a:bodyPr wrap="square">
            <a:spAutoFit/>
          </a:bodyPr>
          <a:lstStyle/>
          <a:p/>
          <a:p>
            <a:pPr>
              <a:spcAft>
                <a:spcPts val="600"/>
              </a:spcAft>
            </a:pPr>
            <a:r>
              <a:rPr sz="950" b="1">
                <a:solidFill>
                  <a:srgbClr val="0F172A"/>
                </a:solidFill>
                <a:latin typeface="Calibri"/>
              </a:rPr>
              <a:t>Four Real-Time Recharts Metrics: </a:t>
            </a:r>
            <a:r>
              <a:rPr sz="950">
                <a:solidFill>
                  <a:srgbClr val="0F172A"/>
                </a:solidFill>
                <a:latin typeface="Calibri"/>
              </a:rPr>
              <a:t>1. Alive Node Progression (FND and HND milestones)
2. Aggregate Residual Energy vs Harvest Intake (Joules)
3. Packet Delivery Ratio (PDR %)
4. Jain's Fairness Index quantifying energy balance.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TESTING &amp; RELIABILITY</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Putting It to the Test: 68 Automated Tests, 100% Pass Rate</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15 / 21</a:t>
            </a:r>
          </a:p>
        </p:txBody>
      </p:sp>
      <p:sp>
        <p:nvSpPr>
          <p:cNvPr id="7" name="Rounded Rectangle 6"/>
          <p:cNvSpPr/>
          <p:nvPr/>
        </p:nvSpPr>
        <p:spPr>
          <a:xfrm>
            <a:off x="731520" y="1463040"/>
            <a:ext cx="5212080" cy="4663440"/>
          </a:xfrm>
          <a:prstGeom prst="roundRect">
            <a:avLst/>
          </a:prstGeom>
          <a:solidFill>
            <a:srgbClr val="111827"/>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4389120"/>
          </a:xfrm>
          <a:prstGeom prst="rect">
            <a:avLst/>
          </a:prstGeom>
          <a:noFill/>
        </p:spPr>
        <p:txBody>
          <a:bodyPr wrap="square">
            <a:spAutoFit/>
          </a:bodyPr>
          <a:lstStyle/>
          <a:p>
            <a:pPr>
              <a:defRPr sz="1000" b="1">
                <a:solidFill>
                  <a:srgbClr val="38BDF8"/>
                </a:solidFill>
                <a:latin typeface="Consolas"/>
              </a:defRPr>
            </a:pPr>
            <a:r>
              <a:t>pytest --rootdir=. -v  [Terminal Run]</a:t>
            </a:r>
          </a:p>
          <a:p>
            <a:pPr>
              <a:defRPr sz="750">
                <a:solidFill>
                  <a:srgbClr val="4ADE80"/>
                </a:solidFill>
                <a:latin typeface="Consolas"/>
              </a:defRPr>
            </a:pPr>
            <a:r>
              <a:t>============================= test session starts =============================</a:t>
            </a:r>
            <a:br/>
            <a:r>
              <a:t>platform win32 -- Python 3.12.9, pytest-9.1.1</a:t>
            </a:r>
            <a:br/>
            <a:r>
              <a:t>rootdir: C:\Users\Santhosh\Documents\antigravity\WSN_proj</a:t>
            </a:r>
            <a:br/>
            <a:r>
              <a:t>collected 68 items</a:t>
            </a:r>
            <a:br/>
            <a:br/>
            <a:r>
              <a:t>tests/test_adversarial_counterexample.py ....                            [  5%]</a:t>
            </a:r>
            <a:br/>
            <a:r>
              <a:t>tests/test_backend_api.py .........                                      [ 19%]</a:t>
            </a:r>
            <a:br/>
            <a:r>
              <a:t>tests/test_brownout_and_failure.py .....                                 [ 26%]</a:t>
            </a:r>
            <a:br/>
            <a:r>
              <a:t>tests/test_clustering.py .....                                           [ 33%]</a:t>
            </a:r>
            <a:br/>
            <a:r>
              <a:t>tests/test_dp_lifetime.py ........                                       [ 45%]</a:t>
            </a:r>
            <a:br/>
            <a:r>
              <a:t>tests/test_dsu_speedup.py ...                                            [ 50%]</a:t>
            </a:r>
            <a:br/>
            <a:r>
              <a:t>tests/test_energy_aware_dijkstra.py ....                                 [ 55%]</a:t>
            </a:r>
            <a:br/>
            <a:r>
              <a:t>tests/test_energy_model.py ......                                        [ 64%]</a:t>
            </a:r>
            <a:br/>
            <a:r>
              <a:t>tests/test_energy_view.py ......                                         [ 73%]</a:t>
            </a:r>
            <a:br/>
            <a:r>
              <a:t>tests/test_harvesting_clustering.py ....                                 [ 79%]</a:t>
            </a:r>
            <a:br/>
            <a:r>
              <a:t>tests/test_harvesting_model.py .....                                     [ 86%]</a:t>
            </a:r>
            <a:br/>
            <a:r>
              <a:t>tests/test_heterogeneous_harvesting.py ...                               [ 91%]</a:t>
            </a:r>
            <a:br/>
            <a:r>
              <a:t>tests/test_network.py ....                                               [ 97%]</a:t>
            </a:r>
            <a:br/>
            <a:r>
              <a:t>tests/test_routing.py ..                                                 [100%]</a:t>
            </a:r>
            <a:br/>
            <a:br/>
            <a:r>
              <a:t>============================== 68 passed in 4.72s ==============================</a:t>
            </a:r>
          </a:p>
        </p:txBody>
      </p:sp>
      <p:sp>
        <p:nvSpPr>
          <p:cNvPr id="9" name="Rounded Rectangle 8"/>
          <p:cNvSpPr/>
          <p:nvPr/>
        </p:nvSpPr>
        <p:spPr>
          <a:xfrm>
            <a:off x="6248095"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00200"/>
            <a:ext cx="4846320" cy="4389120"/>
          </a:xfrm>
          <a:prstGeom prst="rect">
            <a:avLst/>
          </a:prstGeom>
          <a:noFill/>
        </p:spPr>
        <p:txBody>
          <a:bodyPr wrap="square">
            <a:spAutoFit/>
          </a:bodyPr>
          <a:lstStyle/>
          <a:p>
            <a:pPr>
              <a:spcAft>
                <a:spcPts val="600"/>
              </a:spcAft>
              <a:defRPr sz="1400" b="1">
                <a:solidFill>
                  <a:srgbClr val="0F172A"/>
                </a:solidFill>
                <a:latin typeface="Calibri"/>
              </a:defRPr>
            </a:pPr>
            <a:r>
              <a:t>What Our Automated Testbench Guarantees</a:t>
            </a:r>
          </a:p>
          <a:p>
            <a:pPr>
              <a:spcAft>
                <a:spcPts val="600"/>
              </a:spcAft>
            </a:pPr>
            <a:r>
              <a:rPr sz="1000" b="1">
                <a:solidFill>
                  <a:srgbClr val="0F172A"/>
                </a:solidFill>
                <a:latin typeface="Calibri"/>
              </a:rPr>
              <a:t>Mathematical Correctness: </a:t>
            </a:r>
            <a:r>
              <a:rPr sz="1000">
                <a:solidFill>
                  <a:srgbClr val="0F172A"/>
                </a:solidFill>
                <a:latin typeface="Calibri"/>
              </a:rPr>
              <a:t>test_adversarial_counterexample mathematically confirms Time-DP picks recharging relay B (0.040J) over Dijkstra relay A (0.030J).</a:t>
            </a:r>
          </a:p>
          <a:p>
            <a:pPr>
              <a:spcAft>
                <a:spcPts val="600"/>
              </a:spcAft>
            </a:pPr>
            <a:r>
              <a:rPr sz="1000" b="1">
                <a:solidFill>
                  <a:srgbClr val="0F172A"/>
                </a:solidFill>
                <a:latin typeface="Calibri"/>
              </a:rPr>
              <a:t>Radio Physics Compliance: </a:t>
            </a:r>
            <a:r>
              <a:rPr sz="1000">
                <a:solidFill>
                  <a:srgbClr val="0F172A"/>
                </a:solidFill>
                <a:latin typeface="Calibri"/>
              </a:rPr>
              <a:t>test_energy_model verifies the d^2 / d^4 crossover at d0 = 87.7m and receiver electronic dissipation Erx = 50 nJ/bit.</a:t>
            </a:r>
          </a:p>
          <a:p>
            <a:pPr>
              <a:spcAft>
                <a:spcPts val="600"/>
              </a:spcAft>
            </a:pPr>
            <a:r>
              <a:rPr sz="1000" b="1">
                <a:solidFill>
                  <a:srgbClr val="0F172A"/>
                </a:solidFill>
                <a:latin typeface="Calibri"/>
              </a:rPr>
              <a:t>Live Fault Tolerance: </a:t>
            </a:r>
            <a:r>
              <a:rPr sz="1000">
                <a:solidFill>
                  <a:srgbClr val="0F172A"/>
                </a:solidFill>
                <a:latin typeface="Calibri"/>
              </a:rPr>
              <a:t>test_brownout_and_failure confirms 100% PDR under 10% to 30% injected node deaths via DSU bridge repairs.</a:t>
            </a:r>
          </a:p>
          <a:p>
            <a:pPr>
              <a:spcAft>
                <a:spcPts val="600"/>
              </a:spcAft>
            </a:pPr>
            <a:r>
              <a:rPr sz="1000" b="1">
                <a:solidFill>
                  <a:srgbClr val="0F172A"/>
                </a:solidFill>
                <a:latin typeface="Calibri"/>
              </a:rPr>
              <a:t>Speedup Verification: </a:t>
            </a:r>
            <a:r>
              <a:rPr sz="1000">
                <a:solidFill>
                  <a:srgbClr val="0F172A"/>
                </a:solidFill>
                <a:latin typeface="Calibri"/>
              </a:rPr>
              <a:t>test_dsu_speedup confirms 3.8x to 6.1x execution speedup over full DP recomputation.</a:t>
            </a:r>
          </a:p>
          <a:p>
            <a:pPr>
              <a:spcAft>
                <a:spcPts val="600"/>
              </a:spcAft>
            </a:pPr>
            <a:r>
              <a:rPr sz="1000" b="1">
                <a:solidFill>
                  <a:srgbClr val="0F172A"/>
                </a:solidFill>
                <a:latin typeface="Calibri"/>
              </a:rPr>
              <a:t>Probability Conservation: </a:t>
            </a:r>
            <a:r>
              <a:rPr sz="1000">
                <a:solidFill>
                  <a:srgbClr val="0F172A"/>
                </a:solidFill>
                <a:latin typeface="Calibri"/>
              </a:rPr>
              <a:t>test_energy_view confirms 24-bin histogram probability mass always sums to exactly 1.0 with zero leak.</a:t>
            </a:r>
          </a:p>
          <a:p>
            <a:pPr>
              <a:spcAft>
                <a:spcPts val="600"/>
              </a:spcAft>
            </a:pPr>
            <a:r>
              <a:rPr sz="1000" b="1">
                <a:solidFill>
                  <a:srgbClr val="0F172A"/>
                </a:solidFill>
                <a:latin typeface="Calibri"/>
              </a:rPr>
              <a:t>API Reliability: </a:t>
            </a:r>
            <a:r>
              <a:rPr sz="1000">
                <a:solidFill>
                  <a:srgbClr val="0F172A"/>
                </a:solidFill>
                <a:latin typeface="Calibri"/>
              </a:rPr>
              <a:t>test_backend_api validates FastAPI simulation runs, benchmark sweeps, and SQLite persistence.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EMPIRICAL PROOF</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The 5-Node Experiment: Proving Our Point Without Any Fluff</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16 / 21</a:t>
            </a:r>
          </a:p>
        </p:txBody>
      </p:sp>
      <p:sp>
        <p:nvSpPr>
          <p:cNvPr id="7" name="Rounded Rectangle 6"/>
          <p:cNvSpPr/>
          <p:nvPr/>
        </p:nvSpPr>
        <p:spPr>
          <a:xfrm>
            <a:off x="731520"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846320" cy="365760"/>
          </a:xfrm>
          <a:prstGeom prst="rect">
            <a:avLst/>
          </a:prstGeom>
          <a:noFill/>
        </p:spPr>
        <p:txBody>
          <a:bodyPr wrap="none">
            <a:spAutoFit/>
          </a:bodyPr>
          <a:lstStyle/>
          <a:p>
            <a:pPr>
              <a:defRPr sz="1300" b="1">
                <a:solidFill>
                  <a:srgbClr val="0F172A"/>
                </a:solidFill>
                <a:latin typeface="Calibri"/>
              </a:defRPr>
            </a:pPr>
            <a:r>
              <a:t>Isolating Mechanism from Simulation Noise</a:t>
            </a:r>
          </a:p>
        </p:txBody>
      </p:sp>
      <p:pic>
        <p:nvPicPr>
          <p:cNvPr id="9" name="Picture 8" descr="counterexample_5node.png"/>
          <p:cNvPicPr>
            <a:picLocks noChangeAspect="1"/>
          </p:cNvPicPr>
          <p:nvPr/>
        </p:nvPicPr>
        <p:blipFill>
          <a:blip r:embed="rId2"/>
          <a:stretch>
            <a:fillRect/>
          </a:stretch>
        </p:blipFill>
        <p:spPr>
          <a:xfrm>
            <a:off x="914400" y="2011680"/>
            <a:ext cx="4846320" cy="3230880"/>
          </a:xfrm>
          <a:prstGeom prst="rect">
            <a:avLst/>
          </a:prstGeom>
        </p:spPr>
      </p:pic>
      <p:sp>
        <p:nvSpPr>
          <p:cNvPr id="10" name="TextBox 9"/>
          <p:cNvSpPr txBox="1"/>
          <p:nvPr/>
        </p:nvSpPr>
        <p:spPr>
          <a:xfrm>
            <a:off x="914400" y="5029200"/>
            <a:ext cx="4846320" cy="1005840"/>
          </a:xfrm>
          <a:prstGeom prst="rect">
            <a:avLst/>
          </a:prstGeom>
          <a:noFill/>
        </p:spPr>
        <p:txBody>
          <a:bodyPr wrap="square">
            <a:spAutoFit/>
          </a:bodyPr>
          <a:lstStyle/>
          <a:p/>
          <a:p>
            <a:pPr>
              <a:spcAft>
                <a:spcPts val="600"/>
              </a:spcAft>
            </a:pPr>
            <a:r>
              <a:rPr sz="950" b="1">
                <a:solidFill>
                  <a:srgbClr val="0F172A"/>
                </a:solidFill>
                <a:latin typeface="Calibri"/>
              </a:rPr>
              <a:t>The Setup: </a:t>
            </a:r>
            <a:r>
              <a:rPr sz="950">
                <a:solidFill>
                  <a:srgbClr val="0F172A"/>
                </a:solidFill>
                <a:latin typeface="Calibri"/>
              </a:rPr>
              <a:t>Source S must reach BS through Relay A (starts at 30 mJ, zero harvest) or Relay B (starts at 5 mJ, harvests +35 mJ during transit).</a:t>
            </a:r>
          </a:p>
        </p:txBody>
      </p:sp>
      <p:sp>
        <p:nvSpPr>
          <p:cNvPr id="11" name="Rounded Rectangle 10"/>
          <p:cNvSpPr/>
          <p:nvPr/>
        </p:nvSpPr>
        <p:spPr>
          <a:xfrm>
            <a:off x="6248095"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0975" y="1554480"/>
            <a:ext cx="4846320" cy="365760"/>
          </a:xfrm>
          <a:prstGeom prst="rect">
            <a:avLst/>
          </a:prstGeom>
          <a:noFill/>
        </p:spPr>
        <p:txBody>
          <a:bodyPr wrap="none">
            <a:spAutoFit/>
          </a:bodyPr>
          <a:lstStyle/>
          <a:p>
            <a:pPr>
              <a:defRPr sz="1300" b="1">
                <a:solidFill>
                  <a:srgbClr val="0F172A"/>
                </a:solidFill>
                <a:latin typeface="Calibri"/>
              </a:defRPr>
            </a:pPr>
            <a:r>
              <a:t>Algorithmic Decision Matrix &amp; Ground Truth</a:t>
            </a:r>
          </a:p>
        </p:txBody>
      </p:sp>
      <p:graphicFrame>
        <p:nvGraphicFramePr>
          <p:cNvPr id="13" name="Table 12"/>
          <p:cNvGraphicFramePr>
            <a:graphicFrameLocks noGrp="1"/>
          </p:cNvGraphicFramePr>
          <p:nvPr/>
        </p:nvGraphicFramePr>
        <p:xfrm>
          <a:off x="6430975" y="2011680"/>
          <a:ext cx="4846320" cy="2377440"/>
        </p:xfrm>
        <a:graphic>
          <a:graphicData uri="http://schemas.openxmlformats.org/drawingml/2006/table">
            <a:tbl>
              <a:tblPr firstRow="1" bandRow="1">
                <a:tableStyleId>{5C22544A-7EE6-4342-B048-85BDC9FD1C3A}</a:tableStyleId>
              </a:tblPr>
              <a:tblGrid>
                <a:gridCol w="1463040"/>
                <a:gridCol w="1005840"/>
                <a:gridCol w="1005840"/>
                <a:gridCol w="1371600"/>
              </a:tblGrid>
              <a:tr h="475488">
                <a:tc>
                  <a:txBody>
                    <a:bodyPr/>
                    <a:lstStyle/>
                    <a:p>
                      <a:pPr>
                        <a:defRPr sz="950" b="1">
                          <a:solidFill>
                            <a:srgbClr val="FFFFFF"/>
                          </a:solidFill>
                          <a:latin typeface="Calibri"/>
                        </a:defRPr>
                      </a:pPr>
                      <a:r>
                        <a:t>Algorithm</a:t>
                      </a:r>
                    </a:p>
                  </a:txBody>
                  <a:tcPr>
                    <a:solidFill>
                      <a:srgbClr val="0F172A"/>
                    </a:solidFill>
                  </a:tcPr>
                </a:tc>
                <a:tc>
                  <a:txBody>
                    <a:bodyPr/>
                    <a:lstStyle/>
                    <a:p>
                      <a:pPr>
                        <a:defRPr sz="950" b="1">
                          <a:solidFill>
                            <a:srgbClr val="FFFFFF"/>
                          </a:solidFill>
                          <a:latin typeface="Calibri"/>
                        </a:defRPr>
                      </a:pPr>
                      <a:r>
                        <a:t>Chosen Route</a:t>
                      </a:r>
                    </a:p>
                  </a:txBody>
                  <a:tcPr>
                    <a:solidFill>
                      <a:srgbClr val="0F172A"/>
                    </a:solidFill>
                  </a:tcPr>
                </a:tc>
                <a:tc>
                  <a:txBody>
                    <a:bodyPr/>
                    <a:lstStyle/>
                    <a:p>
                      <a:pPr>
                        <a:defRPr sz="950" b="1">
                          <a:solidFill>
                            <a:srgbClr val="FFFFFF"/>
                          </a:solidFill>
                          <a:latin typeface="Calibri"/>
                        </a:defRPr>
                      </a:pPr>
                      <a:r>
                        <a:t>Bottleneck</a:t>
                      </a:r>
                    </a:p>
                  </a:txBody>
                  <a:tcPr>
                    <a:solidFill>
                      <a:srgbClr val="0F172A"/>
                    </a:solidFill>
                  </a:tcPr>
                </a:tc>
                <a:tc>
                  <a:txBody>
                    <a:bodyPr/>
                    <a:lstStyle/>
                    <a:p>
                      <a:pPr>
                        <a:defRPr sz="950" b="1">
                          <a:solidFill>
                            <a:srgbClr val="FFFFFF"/>
                          </a:solidFill>
                          <a:latin typeface="Calibri"/>
                        </a:defRPr>
                      </a:pPr>
                      <a:r>
                        <a:t>Outcome</a:t>
                      </a:r>
                    </a:p>
                  </a:txBody>
                  <a:tcPr>
                    <a:solidFill>
                      <a:srgbClr val="0F172A"/>
                    </a:solidFill>
                  </a:tcPr>
                </a:tc>
              </a:tr>
              <a:tr h="475488">
                <a:tc>
                  <a:txBody>
                    <a:bodyPr/>
                    <a:lstStyle/>
                    <a:p>
                      <a:pPr>
                        <a:defRPr sz="850">
                          <a:solidFill>
                            <a:srgbClr val="0F172A"/>
                          </a:solidFill>
                          <a:latin typeface="Calibri"/>
                        </a:defRPr>
                      </a:pPr>
                      <a:r>
                        <a:t>Min-Hop Dijkstra</a:t>
                      </a:r>
                    </a:p>
                  </a:txBody>
                  <a:tcPr>
                    <a:solidFill>
                      <a:srgbClr val="FFFFFF"/>
                    </a:solidFill>
                  </a:tcPr>
                </a:tc>
                <a:tc>
                  <a:txBody>
                    <a:bodyPr/>
                    <a:lstStyle/>
                    <a:p>
                      <a:pPr>
                        <a:defRPr sz="850">
                          <a:solidFill>
                            <a:srgbClr val="0F172A"/>
                          </a:solidFill>
                          <a:latin typeface="Calibri"/>
                        </a:defRPr>
                      </a:pPr>
                      <a:r>
                        <a:t>S -&gt; A -&gt; BS</a:t>
                      </a:r>
                    </a:p>
                  </a:txBody>
                  <a:tcPr>
                    <a:solidFill>
                      <a:srgbClr val="FFFFFF"/>
                    </a:solidFill>
                  </a:tcPr>
                </a:tc>
                <a:tc>
                  <a:txBody>
                    <a:bodyPr/>
                    <a:lstStyle/>
                    <a:p>
                      <a:pPr>
                        <a:defRPr sz="850">
                          <a:solidFill>
                            <a:srgbClr val="0F172A"/>
                          </a:solidFill>
                          <a:latin typeface="Calibri"/>
                        </a:defRPr>
                      </a:pPr>
                      <a:r>
                        <a:t>0.030 J</a:t>
                      </a:r>
                    </a:p>
                  </a:txBody>
                  <a:tcPr>
                    <a:solidFill>
                      <a:srgbClr val="FFFFFF"/>
                    </a:solidFill>
                  </a:tcPr>
                </a:tc>
                <a:tc>
                  <a:txBody>
                    <a:bodyPr/>
                    <a:lstStyle/>
                    <a:p>
                      <a:pPr>
                        <a:defRPr sz="850">
                          <a:solidFill>
                            <a:srgbClr val="0F172A"/>
                          </a:solidFill>
                          <a:latin typeface="Calibri"/>
                        </a:defRPr>
                      </a:pPr>
                      <a:r>
                        <a:t>FAILS: Depletes A in 15 rounds</a:t>
                      </a:r>
                    </a:p>
                  </a:txBody>
                  <a:tcPr>
                    <a:solidFill>
                      <a:srgbClr val="FFFFFF"/>
                    </a:solidFill>
                  </a:tcPr>
                </a:tc>
              </a:tr>
              <a:tr h="475488">
                <a:tc>
                  <a:txBody>
                    <a:bodyPr/>
                    <a:lstStyle/>
                    <a:p>
                      <a:pPr>
                        <a:defRPr sz="850">
                          <a:solidFill>
                            <a:srgbClr val="0F172A"/>
                          </a:solidFill>
                          <a:latin typeface="Calibri"/>
                        </a:defRPr>
                      </a:pPr>
                      <a:r>
                        <a:t>Energy-Aware Dijkstra</a:t>
                      </a:r>
                    </a:p>
                  </a:txBody>
                  <a:tcPr>
                    <a:solidFill>
                      <a:srgbClr val="F8FAFC"/>
                    </a:solidFill>
                  </a:tcPr>
                </a:tc>
                <a:tc>
                  <a:txBody>
                    <a:bodyPr/>
                    <a:lstStyle/>
                    <a:p>
                      <a:pPr>
                        <a:defRPr sz="850">
                          <a:solidFill>
                            <a:srgbClr val="0F172A"/>
                          </a:solidFill>
                          <a:latin typeface="Calibri"/>
                        </a:defRPr>
                      </a:pPr>
                      <a:r>
                        <a:t>S -&gt; A -&gt; BS</a:t>
                      </a:r>
                    </a:p>
                  </a:txBody>
                  <a:tcPr>
                    <a:solidFill>
                      <a:srgbClr val="F8FAFC"/>
                    </a:solidFill>
                  </a:tcPr>
                </a:tc>
                <a:tc>
                  <a:txBody>
                    <a:bodyPr/>
                    <a:lstStyle/>
                    <a:p>
                      <a:pPr>
                        <a:defRPr sz="850">
                          <a:solidFill>
                            <a:srgbClr val="0F172A"/>
                          </a:solidFill>
                          <a:latin typeface="Calibri"/>
                        </a:defRPr>
                      </a:pPr>
                      <a:r>
                        <a:t>0.030 J</a:t>
                      </a:r>
                    </a:p>
                  </a:txBody>
                  <a:tcPr>
                    <a:solidFill>
                      <a:srgbClr val="F8FAFC"/>
                    </a:solidFill>
                  </a:tcPr>
                </a:tc>
                <a:tc>
                  <a:txBody>
                    <a:bodyPr/>
                    <a:lstStyle/>
                    <a:p>
                      <a:pPr>
                        <a:defRPr sz="850">
                          <a:solidFill>
                            <a:srgbClr val="0F172A"/>
                          </a:solidFill>
                          <a:latin typeface="Calibri"/>
                        </a:defRPr>
                      </a:pPr>
                      <a:r>
                        <a:t>FAILS: Rejects B at t=0 snapshot</a:t>
                      </a:r>
                    </a:p>
                  </a:txBody>
                  <a:tcPr>
                    <a:solidFill>
                      <a:srgbClr val="F8FAFC"/>
                    </a:solidFill>
                  </a:tcPr>
                </a:tc>
              </a:tr>
              <a:tr h="475488">
                <a:tc>
                  <a:txBody>
                    <a:bodyPr/>
                    <a:lstStyle/>
                    <a:p>
                      <a:pPr>
                        <a:defRPr sz="850">
                          <a:solidFill>
                            <a:srgbClr val="0F172A"/>
                          </a:solidFill>
                          <a:latin typeface="Calibri"/>
                        </a:defRPr>
                      </a:pPr>
                      <a:r>
                        <a:t>Classical Maximin DP</a:t>
                      </a:r>
                    </a:p>
                  </a:txBody>
                  <a:tcPr>
                    <a:solidFill>
                      <a:srgbClr val="FFFFFF"/>
                    </a:solidFill>
                  </a:tcPr>
                </a:tc>
                <a:tc>
                  <a:txBody>
                    <a:bodyPr/>
                    <a:lstStyle/>
                    <a:p>
                      <a:pPr>
                        <a:defRPr sz="850">
                          <a:solidFill>
                            <a:srgbClr val="0F172A"/>
                          </a:solidFill>
                          <a:latin typeface="Calibri"/>
                        </a:defRPr>
                      </a:pPr>
                      <a:r>
                        <a:t>S -&gt; A -&gt; BS</a:t>
                      </a:r>
                    </a:p>
                  </a:txBody>
                  <a:tcPr>
                    <a:solidFill>
                      <a:srgbClr val="FFFFFF"/>
                    </a:solidFill>
                  </a:tcPr>
                </a:tc>
                <a:tc>
                  <a:txBody>
                    <a:bodyPr/>
                    <a:lstStyle/>
                    <a:p>
                      <a:pPr>
                        <a:defRPr sz="850">
                          <a:solidFill>
                            <a:srgbClr val="0F172A"/>
                          </a:solidFill>
                          <a:latin typeface="Calibri"/>
                        </a:defRPr>
                      </a:pPr>
                      <a:r>
                        <a:t>0.030 J</a:t>
                      </a:r>
                    </a:p>
                  </a:txBody>
                  <a:tcPr>
                    <a:solidFill>
                      <a:srgbClr val="FFFFFF"/>
                    </a:solidFill>
                  </a:tcPr>
                </a:tc>
                <a:tc>
                  <a:txBody>
                    <a:bodyPr/>
                    <a:lstStyle/>
                    <a:p>
                      <a:pPr>
                        <a:defRPr sz="850">
                          <a:solidFill>
                            <a:srgbClr val="0F172A"/>
                          </a:solidFill>
                          <a:latin typeface="Calibri"/>
                        </a:defRPr>
                      </a:pPr>
                      <a:r>
                        <a:t>FAILS: Blind to solar refill</a:t>
                      </a:r>
                    </a:p>
                  </a:txBody>
                  <a:tcPr>
                    <a:solidFill>
                      <a:srgbClr val="FFFFFF"/>
                    </a:solidFill>
                  </a:tcPr>
                </a:tc>
              </a:tr>
              <a:tr h="475488">
                <a:tc>
                  <a:txBody>
                    <a:bodyPr/>
                    <a:lstStyle/>
                    <a:p>
                      <a:pPr>
                        <a:defRPr sz="850" b="1">
                          <a:solidFill>
                            <a:srgbClr val="0D9488"/>
                          </a:solidFill>
                          <a:latin typeface="Calibri"/>
                        </a:defRPr>
                      </a:pPr>
                      <a:r>
                        <a:t>Time-Augmented DP</a:t>
                      </a:r>
                    </a:p>
                  </a:txBody>
                  <a:tcPr>
                    <a:solidFill>
                      <a:srgbClr val="F0FDFA"/>
                    </a:solidFill>
                  </a:tcPr>
                </a:tc>
                <a:tc>
                  <a:txBody>
                    <a:bodyPr/>
                    <a:lstStyle/>
                    <a:p>
                      <a:pPr>
                        <a:defRPr sz="850" b="1">
                          <a:solidFill>
                            <a:srgbClr val="0D9488"/>
                          </a:solidFill>
                          <a:latin typeface="Calibri"/>
                        </a:defRPr>
                      </a:pPr>
                      <a:r>
                        <a:t>S -&gt; B -&gt; BS</a:t>
                      </a:r>
                    </a:p>
                  </a:txBody>
                  <a:tcPr>
                    <a:solidFill>
                      <a:srgbClr val="F0FDFA"/>
                    </a:solidFill>
                  </a:tcPr>
                </a:tc>
                <a:tc>
                  <a:txBody>
                    <a:bodyPr/>
                    <a:lstStyle/>
                    <a:p>
                      <a:pPr>
                        <a:defRPr sz="850" b="1">
                          <a:solidFill>
                            <a:srgbClr val="0D9488"/>
                          </a:solidFill>
                          <a:latin typeface="Calibri"/>
                        </a:defRPr>
                      </a:pPr>
                      <a:r>
                        <a:t>0.040 J</a:t>
                      </a:r>
                    </a:p>
                  </a:txBody>
                  <a:tcPr>
                    <a:solidFill>
                      <a:srgbClr val="F0FDFA"/>
                    </a:solidFill>
                  </a:tcPr>
                </a:tc>
                <a:tc>
                  <a:txBody>
                    <a:bodyPr/>
                    <a:lstStyle/>
                    <a:p>
                      <a:pPr>
                        <a:defRPr sz="850" b="1">
                          <a:solidFill>
                            <a:srgbClr val="0D9488"/>
                          </a:solidFill>
                          <a:latin typeface="Calibri"/>
                        </a:defRPr>
                      </a:pPr>
                      <a:r>
                        <a:t>SUCCEEDS: Route survives indefinitely!</a:t>
                      </a:r>
                    </a:p>
                  </a:txBody>
                  <a:tcPr>
                    <a:solidFill>
                      <a:srgbClr val="F0FDFA"/>
                    </a:solidFill>
                  </a:tcPr>
                </a:tc>
              </a:tr>
            </a:tbl>
          </a:graphicData>
        </a:graphic>
      </p:graphicFrame>
      <p:sp>
        <p:nvSpPr>
          <p:cNvPr id="14" name="TextBox 13"/>
          <p:cNvSpPr txBox="1"/>
          <p:nvPr/>
        </p:nvSpPr>
        <p:spPr>
          <a:xfrm>
            <a:off x="6430975" y="4480560"/>
            <a:ext cx="4846320" cy="1554480"/>
          </a:xfrm>
          <a:prstGeom prst="rect">
            <a:avLst/>
          </a:prstGeom>
          <a:noFill/>
        </p:spPr>
        <p:txBody>
          <a:bodyPr wrap="square">
            <a:spAutoFit/>
          </a:bodyPr>
          <a:lstStyle/>
          <a:p/>
          <a:p>
            <a:pPr>
              <a:spcAft>
                <a:spcPts val="600"/>
              </a:spcAft>
            </a:pPr>
            <a:r>
              <a:rPr sz="950" b="1">
                <a:solidFill>
                  <a:srgbClr val="0F172A"/>
                </a:solidFill>
                <a:latin typeface="Calibri"/>
              </a:rPr>
              <a:t>The Plain Truth: </a:t>
            </a:r>
            <a:r>
              <a:rPr sz="950">
                <a:solidFill>
                  <a:srgbClr val="0F172A"/>
                </a:solidFill>
                <a:latin typeface="Calibri"/>
              </a:rPr>
              <a:t>Time-DP calculates that Relay B will reach 0.040 J (+33.3% higher capacity) at arrival time t=1. It picks Relay B, achieving infinite route survival.</a:t>
            </a:r>
          </a:p>
          <a:p>
            <a:pPr>
              <a:spcAft>
                <a:spcPts val="600"/>
              </a:spcAft>
            </a:pPr>
            <a:r>
              <a:rPr sz="950" b="1">
                <a:solidFill>
                  <a:srgbClr val="0F172A"/>
                </a:solidFill>
                <a:latin typeface="Calibri"/>
              </a:rPr>
              <a:t>Why Dijkstra Dies: </a:t>
            </a:r>
            <a:r>
              <a:rPr sz="950">
                <a:solidFill>
                  <a:srgbClr val="0F172A"/>
                </a:solidFill>
                <a:latin typeface="Calibri"/>
              </a:rPr>
              <a:t>Dijkstra only sees 0.005 J at t=0. It falsely rejects B and funnels traffic through dying Relay A until the network collapses.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BENCHMARK RESULTS</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Live Detour Benchmark: 6x Faster Than Rebuilding From Scratch</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17 / 21</a:t>
            </a:r>
          </a:p>
        </p:txBody>
      </p:sp>
      <p:sp>
        <p:nvSpPr>
          <p:cNvPr id="7" name="Rounded Rectangle 6"/>
          <p:cNvSpPr/>
          <p:nvPr/>
        </p:nvSpPr>
        <p:spPr>
          <a:xfrm>
            <a:off x="731520"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846320" cy="365760"/>
          </a:xfrm>
          <a:prstGeom prst="rect">
            <a:avLst/>
          </a:prstGeom>
          <a:noFill/>
        </p:spPr>
        <p:txBody>
          <a:bodyPr wrap="none">
            <a:spAutoFit/>
          </a:bodyPr>
          <a:lstStyle/>
          <a:p>
            <a:pPr>
              <a:defRPr sz="1300" b="1">
                <a:solidFill>
                  <a:srgbClr val="0F172A"/>
                </a:solidFill>
                <a:latin typeface="Calibri"/>
              </a:defRPr>
            </a:pPr>
            <a:r>
              <a:t>Injected Failure Rate vs Route Repair Latency</a:t>
            </a:r>
          </a:p>
        </p:txBody>
      </p:sp>
      <p:pic>
        <p:nvPicPr>
          <p:cNvPr id="9" name="Picture 8" descr="dsu_benchmark_speedup.png"/>
          <p:cNvPicPr>
            <a:picLocks noChangeAspect="1"/>
          </p:cNvPicPr>
          <p:nvPr/>
        </p:nvPicPr>
        <p:blipFill>
          <a:blip r:embed="rId2"/>
          <a:stretch>
            <a:fillRect/>
          </a:stretch>
        </p:blipFill>
        <p:spPr>
          <a:xfrm>
            <a:off x="914400" y="2011680"/>
            <a:ext cx="4846320" cy="2050366"/>
          </a:xfrm>
          <a:prstGeom prst="rect">
            <a:avLst/>
          </a:prstGeom>
        </p:spPr>
      </p:pic>
      <p:sp>
        <p:nvSpPr>
          <p:cNvPr id="10" name="TextBox 9"/>
          <p:cNvSpPr txBox="1"/>
          <p:nvPr/>
        </p:nvSpPr>
        <p:spPr>
          <a:xfrm>
            <a:off x="914400" y="4892040"/>
            <a:ext cx="4846320" cy="1097280"/>
          </a:xfrm>
          <a:prstGeom prst="rect">
            <a:avLst/>
          </a:prstGeom>
          <a:noFill/>
        </p:spPr>
        <p:txBody>
          <a:bodyPr wrap="square">
            <a:spAutoFit/>
          </a:bodyPr>
          <a:lstStyle/>
          <a:p/>
          <a:p>
            <a:pPr>
              <a:spcAft>
                <a:spcPts val="600"/>
              </a:spcAft>
            </a:pPr>
            <a:r>
              <a:rPr sz="950" b="1">
                <a:solidFill>
                  <a:srgbClr val="0F172A"/>
                </a:solidFill>
                <a:latin typeface="Calibri"/>
              </a:rPr>
              <a:t>Stress Testing Setup: </a:t>
            </a:r>
            <a:r>
              <a:rPr sz="950">
                <a:solidFill>
                  <a:srgbClr val="0F172A"/>
                </a:solidFill>
                <a:latin typeface="Calibri"/>
              </a:rPr>
              <a:t>Evaluated across 500 failure injection trials under 10% to 30% randomly induced relay deaths while packets are actively in flight.</a:t>
            </a:r>
          </a:p>
        </p:txBody>
      </p:sp>
      <p:sp>
        <p:nvSpPr>
          <p:cNvPr id="11" name="Rounded Rectangle 10"/>
          <p:cNvSpPr/>
          <p:nvPr/>
        </p:nvSpPr>
        <p:spPr>
          <a:xfrm>
            <a:off x="6248095"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0975" y="1554480"/>
            <a:ext cx="4846320" cy="365760"/>
          </a:xfrm>
          <a:prstGeom prst="rect">
            <a:avLst/>
          </a:prstGeom>
          <a:noFill/>
        </p:spPr>
        <p:txBody>
          <a:bodyPr wrap="none">
            <a:spAutoFit/>
          </a:bodyPr>
          <a:lstStyle/>
          <a:p>
            <a:pPr>
              <a:defRPr sz="1300" b="1">
                <a:solidFill>
                  <a:srgbClr val="0F172A"/>
                </a:solidFill>
                <a:latin typeface="Calibri"/>
              </a:defRPr>
            </a:pPr>
            <a:r>
              <a:t>Quantitative Performance Breakdown</a:t>
            </a:r>
          </a:p>
        </p:txBody>
      </p:sp>
      <p:sp>
        <p:nvSpPr>
          <p:cNvPr id="13" name="Rounded Rectangle 12"/>
          <p:cNvSpPr/>
          <p:nvPr/>
        </p:nvSpPr>
        <p:spPr>
          <a:xfrm>
            <a:off x="6430975" y="2011680"/>
            <a:ext cx="4846320" cy="777240"/>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300" b="1">
                <a:solidFill>
                  <a:srgbClr val="0D9488"/>
                </a:solidFill>
                <a:latin typeface="Calibri"/>
              </a:defRPr>
            </a:pPr>
            <a:r>
              <a:t>6.02x  -  Latency Speedup</a:t>
            </a:r>
          </a:p>
          <a:p>
            <a:pPr>
              <a:defRPr sz="950">
                <a:solidFill>
                  <a:srgbClr val="0F172A"/>
                </a:solidFill>
                <a:latin typeface="Calibri"/>
              </a:defRPr>
            </a:pPr>
            <a:r>
              <a:t>0.85 ms (DSU) vs 5.12 ms (Full Time-DP)</a:t>
            </a:r>
          </a:p>
        </p:txBody>
      </p:sp>
      <p:sp>
        <p:nvSpPr>
          <p:cNvPr id="14" name="Rounded Rectangle 13"/>
          <p:cNvSpPr/>
          <p:nvPr/>
        </p:nvSpPr>
        <p:spPr>
          <a:xfrm>
            <a:off x="6430975" y="2926080"/>
            <a:ext cx="4846320" cy="77724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300" b="1">
                <a:solidFill>
                  <a:srgbClr val="2563EB"/>
                </a:solidFill>
                <a:latin typeface="Calibri"/>
              </a:defRPr>
            </a:pPr>
            <a:r>
              <a:t>100%  -  Packet Delivery Ratio</a:t>
            </a:r>
          </a:p>
          <a:p>
            <a:pPr>
              <a:defRPr sz="950">
                <a:solidFill>
                  <a:srgbClr val="0F172A"/>
                </a:solidFill>
                <a:latin typeface="Calibri"/>
              </a:defRPr>
            </a:pPr>
            <a:r>
              <a:t>Zero dropped packets across 500 failure trials</a:t>
            </a:r>
          </a:p>
        </p:txBody>
      </p:sp>
      <p:sp>
        <p:nvSpPr>
          <p:cNvPr id="15" name="Rounded Rectangle 14"/>
          <p:cNvSpPr/>
          <p:nvPr/>
        </p:nvSpPr>
        <p:spPr>
          <a:xfrm>
            <a:off x="6430975" y="3840480"/>
            <a:ext cx="4846320" cy="777240"/>
          </a:xfrm>
          <a:prstGeom prst="roundRect">
            <a:avLst/>
          </a:prstGeom>
          <a:solidFill>
            <a:srgbClr val="F8FAFC"/>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300" b="1">
                <a:solidFill>
                  <a:srgbClr val="1E293B"/>
                </a:solidFill>
                <a:latin typeface="Calibri"/>
              </a:defRPr>
            </a:pPr>
            <a:r>
              <a:t>O(deg u)  -  Local Repair Time</a:t>
            </a:r>
          </a:p>
          <a:p>
            <a:pPr>
              <a:defRPr sz="950">
                <a:solidFill>
                  <a:srgbClr val="0F172A"/>
                </a:solidFill>
                <a:latin typeface="Calibri"/>
              </a:defRPr>
            </a:pPr>
            <a:r>
              <a:t>Inspects only immediate predecessor neighbors</a:t>
            </a:r>
          </a:p>
        </p:txBody>
      </p:sp>
      <p:sp>
        <p:nvSpPr>
          <p:cNvPr id="16" name="TextBox 15"/>
          <p:cNvSpPr txBox="1"/>
          <p:nvPr/>
        </p:nvSpPr>
        <p:spPr>
          <a:xfrm>
            <a:off x="6430975" y="4892040"/>
            <a:ext cx="4846320" cy="1097280"/>
          </a:xfrm>
          <a:prstGeom prst="rect">
            <a:avLst/>
          </a:prstGeom>
          <a:noFill/>
        </p:spPr>
        <p:txBody>
          <a:bodyPr wrap="square">
            <a:spAutoFit/>
          </a:bodyPr>
          <a:lstStyle/>
          <a:p/>
          <a:p>
            <a:pPr>
              <a:spcAft>
                <a:spcPts val="600"/>
              </a:spcAft>
            </a:pPr>
            <a:r>
              <a:rPr sz="950" b="1">
                <a:solidFill>
                  <a:srgbClr val="0F172A"/>
                </a:solidFill>
                <a:latin typeface="Calibri"/>
              </a:rPr>
              <a:t>Takeaway: </a:t>
            </a:r>
            <a:r>
              <a:rPr sz="950">
                <a:solidFill>
                  <a:srgbClr val="0F172A"/>
                </a:solidFill>
                <a:latin typeface="Calibri"/>
              </a:rPr>
              <a:t>DSU live detours eliminate the need for global state recomputation, reducing route repair latency by 6.02x while preserving in-flight packets that would otherwise be discarded.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SURPRISE DISCOVERY</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The Big Surprise: Multi-Hop Relaying Uses 2x MORE Energy!</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18 / 21</a:t>
            </a:r>
          </a:p>
        </p:txBody>
      </p:sp>
      <p:sp>
        <p:nvSpPr>
          <p:cNvPr id="7" name="Rounded Rectangle 6"/>
          <p:cNvSpPr/>
          <p:nvPr/>
        </p:nvSpPr>
        <p:spPr>
          <a:xfrm>
            <a:off x="731520"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4389120"/>
          </a:xfrm>
          <a:prstGeom prst="rect">
            <a:avLst/>
          </a:prstGeom>
          <a:noFill/>
        </p:spPr>
        <p:txBody>
          <a:bodyPr wrap="square">
            <a:spAutoFit/>
          </a:bodyPr>
          <a:lstStyle/>
          <a:p>
            <a:pPr>
              <a:spcAft>
                <a:spcPts val="600"/>
              </a:spcAft>
              <a:defRPr sz="1400" b="1">
                <a:solidFill>
                  <a:srgbClr val="0F172A"/>
                </a:solidFill>
                <a:latin typeface="Calibri"/>
              </a:defRPr>
            </a:pPr>
            <a:r>
              <a:t>The Radio Energy Balance for a 4000-Bit Packet</a:t>
            </a:r>
          </a:p>
          <a:p>
            <a:pPr>
              <a:spcAft>
                <a:spcPts val="600"/>
              </a:spcAft>
            </a:pPr>
            <a:r>
              <a:rPr sz="1050" b="1">
                <a:solidFill>
                  <a:srgbClr val="0F172A"/>
                </a:solidFill>
                <a:latin typeface="Calibri"/>
              </a:rPr>
              <a:t>The Multi-Hop Myth: </a:t>
            </a:r>
            <a:r>
              <a:rPr sz="1050">
                <a:solidFill>
                  <a:srgbClr val="0F172A"/>
                </a:solidFill>
                <a:latin typeface="Calibri"/>
              </a:rPr>
              <a:t>Almost every textbook claims multi-hop routing is universally greener because transmission energy scales with distance squared (d^2).</a:t>
            </a:r>
          </a:p>
          <a:p>
            <a:pPr>
              <a:spcAft>
                <a:spcPts val="600"/>
              </a:spcAft>
            </a:pPr>
            <a:r>
              <a:rPr sz="1050" b="1">
                <a:solidFill>
                  <a:srgbClr val="0F172A"/>
                </a:solidFill>
                <a:latin typeface="Calibri"/>
              </a:rPr>
              <a:t>Direct Link (60 m): </a:t>
            </a:r>
            <a:r>
              <a:rPr sz="1050">
                <a:solidFill>
                  <a:srgbClr val="0F172A"/>
                </a:solidFill>
                <a:latin typeface="Calibri"/>
              </a:rPr>
              <a:t>Transmitting directly over 60 meters:
E_tx = 4000*(50 nJ) + 4000*(10 pJ/m^2)*(60 m)^2
= 0.200 mJ + 0.144 mJ = 0.344 mJ.</a:t>
            </a:r>
          </a:p>
          <a:p>
            <a:pPr>
              <a:spcAft>
                <a:spcPts val="600"/>
              </a:spcAft>
            </a:pPr>
            <a:r>
              <a:rPr sz="1050" b="1">
                <a:solidFill>
                  <a:srgbClr val="0F172A"/>
                </a:solidFill>
                <a:latin typeface="Calibri"/>
              </a:rPr>
              <a:t>Two-Hop Relay Link (30 m + 30 m): </a:t>
            </a:r>
            <a:r>
              <a:rPr sz="1050">
                <a:solidFill>
                  <a:srgbClr val="0F172A"/>
                </a:solidFill>
                <a:latin typeface="Calibri"/>
              </a:rPr>
              <a:t>Transmitting via an intermediate relay:
2 * E_tx(30m) + E_rx
= 2 * [0.200 mJ + 0.036 mJ] + 0.200 mJ
= 0.472 mJ + 0.200 mJ = 0.672 mJ.</a:t>
            </a:r>
          </a:p>
        </p:txBody>
      </p:sp>
      <p:sp>
        <p:nvSpPr>
          <p:cNvPr id="9" name="Rounded Rectangle 8"/>
          <p:cNvSpPr/>
          <p:nvPr/>
        </p:nvSpPr>
        <p:spPr>
          <a:xfrm>
            <a:off x="914400" y="4572000"/>
            <a:ext cx="4846320" cy="1371600"/>
          </a:xfrm>
          <a:prstGeom prst="round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DC2626"/>
                </a:solidFill>
                <a:latin typeface="Calibri"/>
              </a:defRPr>
            </a:pPr>
            <a:r>
              <a:t>THE EYE-OPENING DISCOVERY:</a:t>
            </a:r>
          </a:p>
          <a:p>
            <a:pPr>
              <a:defRPr sz="950">
                <a:solidFill>
                  <a:srgbClr val="0F172A"/>
                </a:solidFill>
                <a:latin typeface="Calibri"/>
              </a:defRPr>
            </a:pPr>
            <a:r>
              <a:t>Relaying costs 0.672 mJ vs 0.344 mJ for direct transmission -- nearly TWICE as much energy! Relaying is only economical if distance spans beyond 87.7m (d^4 zone) or if the relay is actively absorbing free solar recharge.</a:t>
            </a:r>
          </a:p>
        </p:txBody>
      </p:sp>
      <p:sp>
        <p:nvSpPr>
          <p:cNvPr id="10" name="Rounded Rectangle 9"/>
          <p:cNvSpPr/>
          <p:nvPr/>
        </p:nvSpPr>
        <p:spPr>
          <a:xfrm>
            <a:off x="6248095"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600200"/>
            <a:ext cx="4846320" cy="4389120"/>
          </a:xfrm>
          <a:prstGeom prst="rect">
            <a:avLst/>
          </a:prstGeom>
          <a:noFill/>
        </p:spPr>
        <p:txBody>
          <a:bodyPr wrap="square">
            <a:spAutoFit/>
          </a:bodyPr>
          <a:lstStyle/>
          <a:p>
            <a:pPr>
              <a:spcAft>
                <a:spcPts val="600"/>
              </a:spcAft>
              <a:defRPr sz="1400" b="1">
                <a:solidFill>
                  <a:srgbClr val="0F172A"/>
                </a:solidFill>
                <a:latin typeface="Calibri"/>
              </a:defRPr>
            </a:pPr>
            <a:r>
              <a:t>The Macroscopic Lesson: Traffic Funneling</a:t>
            </a:r>
          </a:p>
          <a:p>
            <a:pPr>
              <a:spcAft>
                <a:spcPts val="600"/>
              </a:spcAft>
            </a:pPr>
            <a:r>
              <a:rPr sz="1050" b="1">
                <a:solidFill>
                  <a:srgbClr val="0F172A"/>
                </a:solidFill>
                <a:latin typeface="Calibri"/>
              </a:rPr>
              <a:t>Single-Path Maximin vs Global Energy: </a:t>
            </a:r>
            <a:r>
              <a:rPr sz="1050">
                <a:solidFill>
                  <a:srgbClr val="0F172A"/>
                </a:solidFill>
                <a:latin typeface="Calibri"/>
              </a:rPr>
              <a:t>Our Time-DP algorithm provably maximizes the bottleneck residual energy along an isolated route. But at the network level, more hops burn more aggregate battery.</a:t>
            </a:r>
          </a:p>
          <a:p>
            <a:pPr>
              <a:spcAft>
                <a:spcPts val="600"/>
              </a:spcAft>
            </a:pPr>
            <a:r>
              <a:rPr sz="1050" b="1">
                <a:solidFill>
                  <a:srgbClr val="0F172A"/>
                </a:solidFill>
                <a:latin typeface="Calibri"/>
              </a:rPr>
              <a:t>Uncoordinated Traffic Funneling: </a:t>
            </a:r>
            <a:r>
              <a:rPr sz="1050">
                <a:solidFill>
                  <a:srgbClr val="0F172A"/>
                </a:solidFill>
                <a:latin typeface="Calibri"/>
              </a:rPr>
              <a:t>When multiple cluster heads all see the same sunny relay as attractive, they simultaneously dump packets onto it, burning its battery faster than the sun can recharge it!</a:t>
            </a:r>
          </a:p>
          <a:p>
            <a:pPr>
              <a:spcAft>
                <a:spcPts val="600"/>
              </a:spcAft>
            </a:pPr>
            <a:r>
              <a:rPr sz="1050" b="1">
                <a:solidFill>
                  <a:srgbClr val="0F172A"/>
                </a:solidFill>
                <a:latin typeface="Calibri"/>
              </a:rPr>
              <a:t>Multi-Seed Evaluation (30 Seeds): </a:t>
            </a:r>
            <a:r>
              <a:rPr sz="1050">
                <a:solidFill>
                  <a:srgbClr val="0F172A"/>
                </a:solidFill>
                <a:latin typeface="Calibri"/>
              </a:rPr>
              <a:t>Evaluated across 30 random topologies in run_multiseed.py. In dense networks, direct transmission preserves more aggregate energy.</a:t>
            </a:r>
          </a:p>
          <a:p>
            <a:pPr>
              <a:spcAft>
                <a:spcPts val="600"/>
              </a:spcAft>
            </a:pPr>
            <a:r>
              <a:rPr sz="1050" b="1">
                <a:solidFill>
                  <a:srgbClr val="0F172A"/>
                </a:solidFill>
                <a:latin typeface="Calibri"/>
              </a:rPr>
              <a:t>Our Realistic Routing Rule: </a:t>
            </a:r>
            <a:r>
              <a:rPr sz="1050">
                <a:solidFill>
                  <a:srgbClr val="0F172A"/>
                </a:solidFill>
                <a:latin typeface="Calibri"/>
              </a:rPr>
              <a:t>Our Time-DP explicitly subtracts E_rx in its recurrence, so it only chooses relaying when the relay is genuinely flooded with surplus solar energy.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MATHEMATICAL RIGOR</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The Math Behind It: Provable Guarantees &amp; Optimality</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19 / 21</a:t>
            </a:r>
          </a:p>
        </p:txBody>
      </p:sp>
      <p:sp>
        <p:nvSpPr>
          <p:cNvPr id="7" name="Rounded Rectangle 6"/>
          <p:cNvSpPr/>
          <p:nvPr/>
        </p:nvSpPr>
        <p:spPr>
          <a:xfrm>
            <a:off x="731520"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4389120"/>
          </a:xfrm>
          <a:prstGeom prst="rect">
            <a:avLst/>
          </a:prstGeom>
          <a:noFill/>
        </p:spPr>
        <p:txBody>
          <a:bodyPr wrap="square">
            <a:spAutoFit/>
          </a:bodyPr>
          <a:lstStyle/>
          <a:p>
            <a:pPr>
              <a:spcAft>
                <a:spcPts val="600"/>
              </a:spcAft>
              <a:defRPr sz="1300" b="1">
                <a:solidFill>
                  <a:srgbClr val="0F172A"/>
                </a:solidFill>
                <a:latin typeface="Calibri"/>
              </a:defRPr>
            </a:pPr>
            <a:r>
              <a:t>Theorem 1: Bellman Optimality on DAG G_T</a:t>
            </a:r>
          </a:p>
          <a:p>
            <a:pPr>
              <a:spcAft>
                <a:spcPts val="600"/>
              </a:spcAft>
            </a:pPr>
            <a:r>
              <a:rPr sz="1000" b="1">
                <a:solidFill>
                  <a:srgbClr val="0F172A"/>
                </a:solidFill>
                <a:latin typeface="Calibri"/>
              </a:rPr>
              <a:t>Time-Expanded Directed Acyclic Graph (G_T): </a:t>
            </a:r>
            <a:r>
              <a:rPr sz="1000">
                <a:solidFill>
                  <a:srgbClr val="0F172A"/>
                </a:solidFill>
                <a:latin typeface="Calibri"/>
              </a:rPr>
              <a:t>V_T = {(v, h, t)}, E_T = {((u, h-1, t-delta), (v, h, t))}. Because every edge strictly increments hop h by +1 and time t by +delta (delta &gt;= 1), G_T contains strictly zero directed cycles.</a:t>
            </a:r>
          </a:p>
          <a:p>
            <a:pPr>
              <a:spcAft>
                <a:spcPts val="600"/>
              </a:spcAft>
            </a:pPr>
            <a:r>
              <a:rPr sz="1000" b="1">
                <a:solidFill>
                  <a:srgbClr val="0F172A"/>
                </a:solidFill>
                <a:latin typeface="Calibri"/>
              </a:rPr>
              <a:t>Monotonicity of Maximin Substructure: </a:t>
            </a:r>
            <a:r>
              <a:rPr sz="1000">
                <a:solidFill>
                  <a:srgbClr val="0F172A"/>
                </a:solidFill>
                <a:latin typeface="Calibri"/>
              </a:rPr>
              <a:t>The bottleneck capacity B(P) decomposes as min(B(P_prev), E_proj). Because scalar min(a, c) is monotonically non-decreasing in a (a &gt;= a' implies min(a, c) &gt;= min(a', c)), the optimal substructure property strictly holds.</a:t>
            </a:r>
          </a:p>
          <a:p>
            <a:pPr>
              <a:spcAft>
                <a:spcPts val="600"/>
              </a:spcAft>
            </a:pPr>
            <a:r>
              <a:rPr sz="1000" b="1">
                <a:solidFill>
                  <a:srgbClr val="0F172A"/>
                </a:solidFill>
                <a:latin typeface="Calibri"/>
              </a:rPr>
              <a:t>Proof Conclusion: </a:t>
            </a:r>
            <a:r>
              <a:rPr sz="1000">
                <a:solidFill>
                  <a:srgbClr val="0F172A"/>
                </a:solidFill>
                <a:latin typeface="Calibri"/>
              </a:rPr>
              <a:t>Dynamic programming on topologically sorted G_T provably computes the globally optimal maximin bottleneck path without cyclic dependency.</a:t>
            </a:r>
          </a:p>
        </p:txBody>
      </p:sp>
      <p:sp>
        <p:nvSpPr>
          <p:cNvPr id="9" name="Rounded Rectangle 8"/>
          <p:cNvSpPr/>
          <p:nvPr/>
        </p:nvSpPr>
        <p:spPr>
          <a:xfrm>
            <a:off x="6248095" y="146304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00200"/>
            <a:ext cx="4846320" cy="4389120"/>
          </a:xfrm>
          <a:prstGeom prst="rect">
            <a:avLst/>
          </a:prstGeom>
          <a:noFill/>
        </p:spPr>
        <p:txBody>
          <a:bodyPr wrap="square">
            <a:spAutoFit/>
          </a:bodyPr>
          <a:lstStyle/>
          <a:p>
            <a:pPr>
              <a:spcAft>
                <a:spcPts val="600"/>
              </a:spcAft>
              <a:defRPr sz="1300" b="1">
                <a:solidFill>
                  <a:srgbClr val="0F172A"/>
                </a:solidFill>
                <a:latin typeface="Calibri"/>
              </a:defRPr>
            </a:pPr>
            <a:r>
              <a:t>Theorem 2: The 2-Epsilon Guarantee</a:t>
            </a:r>
          </a:p>
          <a:p>
            <a:pPr>
              <a:spcAft>
                <a:spcPts val="600"/>
              </a:spcAft>
            </a:pPr>
            <a:r>
              <a:rPr sz="1000" b="1">
                <a:solidFill>
                  <a:srgbClr val="0F172A"/>
                </a:solidFill>
                <a:latin typeface="Calibri"/>
              </a:rPr>
              <a:t>Real-World Weather Uncertainty: </a:t>
            </a:r>
            <a:r>
              <a:rPr sz="1000">
                <a:solidFill>
                  <a:srgbClr val="0F172A"/>
                </a:solidFill>
                <a:latin typeface="Calibri"/>
              </a:rPr>
              <a:t>What if our solar forecast is slightly off? Let estimation error be bounded: |xi_v(t)| &lt;= epsilon.</a:t>
            </a:r>
          </a:p>
          <a:p>
            <a:pPr>
              <a:spcAft>
                <a:spcPts val="600"/>
              </a:spcAft>
            </a:pPr>
            <a:r>
              <a:rPr sz="1000" b="1">
                <a:solidFill>
                  <a:srgbClr val="0F172A"/>
                </a:solidFill>
                <a:latin typeface="Calibri"/>
              </a:rPr>
              <a:t>Theoretical Guarantee Statement: </a:t>
            </a:r>
            <a:r>
              <a:rPr sz="1000">
                <a:solidFill>
                  <a:srgbClr val="0F172A"/>
                </a:solidFill>
                <a:latin typeface="Calibri"/>
              </a:rPr>
              <a:t>Under bounded forecast error epsilon, the path P_DP selected by Time-DP achieves a realized bottleneck within 2-epsilon of an omniscient offline oracle P*:</a:t>
            </a:r>
          </a:p>
        </p:txBody>
      </p:sp>
      <p:pic>
        <p:nvPicPr>
          <p:cNvPr id="11" name="Picture 10" descr="eq_7.png"/>
          <p:cNvPicPr>
            <a:picLocks noChangeAspect="1"/>
          </p:cNvPicPr>
          <p:nvPr/>
        </p:nvPicPr>
        <p:blipFill>
          <a:blip r:embed="rId2"/>
          <a:stretch>
            <a:fillRect/>
          </a:stretch>
        </p:blipFill>
        <p:spPr>
          <a:xfrm>
            <a:off x="6430975" y="3291840"/>
            <a:ext cx="4846320" cy="195137"/>
          </a:xfrm>
          <a:prstGeom prst="rect">
            <a:avLst/>
          </a:prstGeom>
        </p:spPr>
      </p:pic>
      <p:sp>
        <p:nvSpPr>
          <p:cNvPr id="12" name="TextBox 11"/>
          <p:cNvSpPr txBox="1"/>
          <p:nvPr/>
        </p:nvSpPr>
        <p:spPr>
          <a:xfrm>
            <a:off x="6430975" y="3931920"/>
            <a:ext cx="4846320" cy="2011680"/>
          </a:xfrm>
          <a:prstGeom prst="rect">
            <a:avLst/>
          </a:prstGeom>
          <a:noFill/>
        </p:spPr>
        <p:txBody>
          <a:bodyPr wrap="square">
            <a:spAutoFit/>
          </a:bodyPr>
          <a:lstStyle/>
          <a:p/>
          <a:p>
            <a:pPr>
              <a:spcAft>
                <a:spcPts val="600"/>
              </a:spcAft>
            </a:pPr>
            <a:r>
              <a:rPr sz="1000" b="1">
                <a:solidFill>
                  <a:srgbClr val="0F172A"/>
                </a:solidFill>
                <a:latin typeface="Calibri"/>
              </a:rPr>
              <a:t>Why This Gives Peace of Mind: </a:t>
            </a:r>
            <a:r>
              <a:rPr sz="1000">
                <a:solidFill>
                  <a:srgbClr val="0F172A"/>
                </a:solidFill>
                <a:latin typeface="Calibri"/>
              </a:rPr>
              <a:t>Even if a cloud causes weather forecasts to drift by epsilon, our algorithm never degrades by more than 2-epsilon compared to an imaginary oracle that has a crystal ball seeing the future!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3291840" cy="274320"/>
          </a:xfrm>
          <a:prstGeom prst="roundRect">
            <a:avLst/>
          </a:prstGeom>
          <a:solidFill>
            <a:srgbClr val="F0FDFA"/>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D9488"/>
                </a:solidFill>
                <a:latin typeface="Calibri"/>
              </a:defRPr>
            </a:pPr>
            <a:r>
              <a:t>STATUS &amp; ROADMAP</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latin typeface="Calibri"/>
              </a:defRPr>
            </a:pPr>
            <a:r>
              <a:t>Project Wrap-Up: What We Built &amp; Where We're Heading</a:t>
            </a:r>
          </a:p>
        </p:txBody>
      </p:sp>
      <p:sp>
        <p:nvSpPr>
          <p:cNvPr id="4" name="Rectangle 3"/>
          <p:cNvSpPr/>
          <p:nvPr/>
        </p:nvSpPr>
        <p:spPr>
          <a:xfrm>
            <a:off x="731520" y="1243584"/>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326880" cy="320040"/>
          </a:xfrm>
          <a:prstGeom prst="rect">
            <a:avLst/>
          </a:prstGeom>
          <a:noFill/>
        </p:spPr>
        <p:txBody>
          <a:bodyPr wrap="none">
            <a:spAutoFit/>
          </a:bodyPr>
          <a:lstStyle/>
          <a:p>
            <a:pPr>
              <a:defRPr sz="850">
                <a:solidFill>
                  <a:srgbClr val="64748B"/>
                </a:solidFill>
                <a:latin typeface="Calibri"/>
              </a:defRPr>
            </a:pPr>
            <a:r>
              <a:t>Adaptive Routing in EH-WSNs  |  Santhosh G (25BEL0016), Thilang T V (25BEL0036), Ananthakrishnan R (25BEL0005)</a:t>
            </a:r>
          </a:p>
        </p:txBody>
      </p:sp>
      <p:sp>
        <p:nvSpPr>
          <p:cNvPr id="6" name="TextBox 5"/>
          <p:cNvSpPr txBox="1"/>
          <p:nvPr/>
        </p:nvSpPr>
        <p:spPr>
          <a:xfrm>
            <a:off x="10332720" y="6400800"/>
            <a:ext cx="1097280" cy="320040"/>
          </a:xfrm>
          <a:prstGeom prst="rect">
            <a:avLst/>
          </a:prstGeom>
          <a:noFill/>
        </p:spPr>
        <p:txBody>
          <a:bodyPr wrap="none">
            <a:spAutoFit/>
          </a:bodyPr>
          <a:lstStyle/>
          <a:p>
            <a:pPr algn="r">
              <a:defRPr sz="850" b="1">
                <a:solidFill>
                  <a:srgbClr val="64748B"/>
                </a:solidFill>
                <a:latin typeface="Calibri"/>
              </a:defRPr>
            </a:pPr>
            <a:r>
              <a:t>20 / 21</a:t>
            </a:r>
          </a:p>
        </p:txBody>
      </p:sp>
      <p:graphicFrame>
        <p:nvGraphicFramePr>
          <p:cNvPr id="7" name="Table 6"/>
          <p:cNvGraphicFramePr>
            <a:graphicFrameLocks noGrp="1"/>
          </p:cNvGraphicFramePr>
          <p:nvPr/>
        </p:nvGraphicFramePr>
        <p:xfrm>
          <a:off x="731520" y="1463040"/>
          <a:ext cx="10728655" cy="3108960"/>
        </p:xfrm>
        <a:graphic>
          <a:graphicData uri="http://schemas.openxmlformats.org/drawingml/2006/table">
            <a:tbl>
              <a:tblPr firstRow="1" bandRow="1">
                <a:tableStyleId>{5C22544A-7EE6-4342-B048-85BDC9FD1C3A}</a:tableStyleId>
              </a:tblPr>
              <a:tblGrid>
                <a:gridCol w="2011680"/>
                <a:gridCol w="3474720"/>
                <a:gridCol w="1645920"/>
                <a:gridCol w="3596335"/>
              </a:tblGrid>
              <a:tr h="518160">
                <a:tc>
                  <a:txBody>
                    <a:bodyPr/>
                    <a:lstStyle/>
                    <a:p>
                      <a:pPr>
                        <a:defRPr sz="1000" b="1">
                          <a:solidFill>
                            <a:srgbClr val="FFFFFF"/>
                          </a:solidFill>
                          <a:latin typeface="Calibri"/>
                        </a:defRPr>
                      </a:pPr>
                      <a:r>
                        <a:t>Milestone</a:t>
                      </a:r>
                    </a:p>
                  </a:txBody>
                  <a:tcPr>
                    <a:solidFill>
                      <a:srgbClr val="0F172A"/>
                    </a:solidFill>
                  </a:tcPr>
                </a:tc>
                <a:tc>
                  <a:txBody>
                    <a:bodyPr/>
                    <a:lstStyle/>
                    <a:p>
                      <a:pPr>
                        <a:defRPr sz="1000" b="1">
                          <a:solidFill>
                            <a:srgbClr val="FFFFFF"/>
                          </a:solidFill>
                          <a:latin typeface="Calibri"/>
                        </a:defRPr>
                      </a:pPr>
                      <a:r>
                        <a:t>Technical Deliverable</a:t>
                      </a:r>
                    </a:p>
                  </a:txBody>
                  <a:tcPr>
                    <a:solidFill>
                      <a:srgbClr val="0F172A"/>
                    </a:solidFill>
                  </a:tcPr>
                </a:tc>
                <a:tc>
                  <a:txBody>
                    <a:bodyPr/>
                    <a:lstStyle/>
                    <a:p>
                      <a:pPr>
                        <a:defRPr sz="1000" b="1">
                          <a:solidFill>
                            <a:srgbClr val="FFFFFF"/>
                          </a:solidFill>
                          <a:latin typeface="Calibri"/>
                        </a:defRPr>
                      </a:pPr>
                      <a:r>
                        <a:t>Status</a:t>
                      </a:r>
                    </a:p>
                  </a:txBody>
                  <a:tcPr>
                    <a:solidFill>
                      <a:srgbClr val="0F172A"/>
                    </a:solidFill>
                  </a:tcPr>
                </a:tc>
                <a:tc>
                  <a:txBody>
                    <a:bodyPr/>
                    <a:lstStyle/>
                    <a:p>
                      <a:pPr>
                        <a:defRPr sz="1000" b="1">
                          <a:solidFill>
                            <a:srgbClr val="FFFFFF"/>
                          </a:solidFill>
                          <a:latin typeface="Calibri"/>
                        </a:defRPr>
                      </a:pPr>
                      <a:r>
                        <a:t>Verification Evidence</a:t>
                      </a:r>
                    </a:p>
                  </a:txBody>
                  <a:tcPr>
                    <a:solidFill>
                      <a:srgbClr val="0F172A"/>
                    </a:solidFill>
                  </a:tcPr>
                </a:tc>
              </a:tr>
              <a:tr h="518160">
                <a:tc>
                  <a:txBody>
                    <a:bodyPr/>
                    <a:lstStyle/>
                    <a:p>
                      <a:pPr>
                        <a:defRPr sz="950">
                          <a:solidFill>
                            <a:srgbClr val="0F172A"/>
                          </a:solidFill>
                          <a:latin typeface="Calibri"/>
                        </a:defRPr>
                      </a:pPr>
                      <a:r>
                        <a:t>Core Simulation Engine</a:t>
                      </a:r>
                    </a:p>
                  </a:txBody>
                  <a:tcPr>
                    <a:solidFill>
                      <a:srgbClr val="FFFFFF"/>
                    </a:solidFill>
                  </a:tcPr>
                </a:tc>
                <a:tc>
                  <a:txBody>
                    <a:bodyPr/>
                    <a:lstStyle/>
                    <a:p>
                      <a:pPr>
                        <a:defRPr sz="950">
                          <a:solidFill>
                            <a:srgbClr val="0F172A"/>
                          </a:solidFill>
                          <a:latin typeface="Calibri"/>
                        </a:defRPr>
                      </a:pPr>
                      <a:r>
                        <a:t>Heinzelman radio physics, diurnal solar, canopy shadows</a:t>
                      </a:r>
                    </a:p>
                  </a:txBody>
                  <a:tcPr>
                    <a:solidFill>
                      <a:srgbClr val="FFFFFF"/>
                    </a:solidFill>
                  </a:tcPr>
                </a:tc>
                <a:tc>
                  <a:txBody>
                    <a:bodyPr/>
                    <a:lstStyle/>
                    <a:p>
                      <a:pPr>
                        <a:defRPr sz="950" b="1">
                          <a:solidFill>
                            <a:srgbClr val="0D9488"/>
                          </a:solidFill>
                          <a:latin typeface="Calibri"/>
                        </a:defRPr>
                      </a:pPr>
                      <a:r>
                        <a:t>100% Completed</a:t>
                      </a:r>
                    </a:p>
                  </a:txBody>
                  <a:tcPr>
                    <a:solidFill>
                      <a:srgbClr val="F0FDFA"/>
                    </a:solidFill>
                  </a:tcPr>
                </a:tc>
                <a:tc>
                  <a:txBody>
                    <a:bodyPr/>
                    <a:lstStyle/>
                    <a:p>
                      <a:pPr>
                        <a:defRPr sz="950">
                          <a:solidFill>
                            <a:srgbClr val="0F172A"/>
                          </a:solidFill>
                          <a:latin typeface="Calibri"/>
                        </a:defRPr>
                      </a:pPr>
                      <a:r>
                        <a:t>src/network.py, src/energy_model.py, verified</a:t>
                      </a:r>
                    </a:p>
                  </a:txBody>
                  <a:tcPr>
                    <a:solidFill>
                      <a:srgbClr val="FFFFFF"/>
                    </a:solidFill>
                  </a:tcPr>
                </a:tc>
              </a:tr>
              <a:tr h="518160">
                <a:tc>
                  <a:txBody>
                    <a:bodyPr/>
                    <a:lstStyle/>
                    <a:p>
                      <a:pPr>
                        <a:defRPr sz="950">
                          <a:solidFill>
                            <a:srgbClr val="0F172A"/>
                          </a:solidFill>
                          <a:latin typeface="Calibri"/>
                        </a:defRPr>
                      </a:pPr>
                      <a:r>
                        <a:t>Lookahead 3D DP Router</a:t>
                      </a:r>
                    </a:p>
                  </a:txBody>
                  <a:tcPr>
                    <a:solidFill>
                      <a:srgbClr val="F8FAFC"/>
                    </a:solidFill>
                  </a:tcPr>
                </a:tc>
                <a:tc>
                  <a:txBody>
                    <a:bodyPr/>
                    <a:lstStyle/>
                    <a:p>
                      <a:pPr>
                        <a:defRPr sz="950">
                          <a:solidFill>
                            <a:srgbClr val="0F172A"/>
                          </a:solidFill>
                          <a:latin typeface="Calibri"/>
                        </a:defRPr>
                      </a:pPr>
                      <a:r>
                        <a:t>Time-expanded DAG maximin DP with backpointers</a:t>
                      </a:r>
                    </a:p>
                  </a:txBody>
                  <a:tcPr>
                    <a:solidFill>
                      <a:srgbClr val="F8FAFC"/>
                    </a:solidFill>
                  </a:tcPr>
                </a:tc>
                <a:tc>
                  <a:txBody>
                    <a:bodyPr/>
                    <a:lstStyle/>
                    <a:p>
                      <a:pPr>
                        <a:defRPr sz="950" b="1">
                          <a:solidFill>
                            <a:srgbClr val="0D9488"/>
                          </a:solidFill>
                          <a:latin typeface="Calibri"/>
                        </a:defRPr>
                      </a:pPr>
                      <a:r>
                        <a:t>100% Completed</a:t>
                      </a:r>
                    </a:p>
                  </a:txBody>
                  <a:tcPr>
                    <a:solidFill>
                      <a:srgbClr val="F0FDFA"/>
                    </a:solidFill>
                  </a:tcPr>
                </a:tc>
                <a:tc>
                  <a:txBody>
                    <a:bodyPr/>
                    <a:lstStyle/>
                    <a:p>
                      <a:pPr>
                        <a:defRPr sz="950">
                          <a:solidFill>
                            <a:srgbClr val="0F172A"/>
                          </a:solidFill>
                          <a:latin typeface="Calibri"/>
                        </a:defRPr>
                      </a:pPr>
                      <a:r>
                        <a:t>src/dp_lifetime.py, &lt;5.2 ms, &lt;48 KB RAM</a:t>
                      </a:r>
                    </a:p>
                  </a:txBody>
                  <a:tcPr>
                    <a:solidFill>
                      <a:srgbClr val="F8FAFC"/>
                    </a:solidFill>
                  </a:tcPr>
                </a:tc>
              </a:tr>
              <a:tr h="518160">
                <a:tc>
                  <a:txBody>
                    <a:bodyPr/>
                    <a:lstStyle/>
                    <a:p>
                      <a:pPr>
                        <a:defRPr sz="950">
                          <a:solidFill>
                            <a:srgbClr val="0F172A"/>
                          </a:solidFill>
                          <a:latin typeface="Calibri"/>
                        </a:defRPr>
                      </a:pPr>
                      <a:r>
                        <a:t>Fault Recovery (DSU)</a:t>
                      </a:r>
                    </a:p>
                  </a:txBody>
                  <a:tcPr>
                    <a:solidFill>
                      <a:srgbClr val="FFFFFF"/>
                    </a:solidFill>
                  </a:tcPr>
                </a:tc>
                <a:tc>
                  <a:txBody>
                    <a:bodyPr/>
                    <a:lstStyle/>
                    <a:p>
                      <a:pPr>
                        <a:defRPr sz="950">
                          <a:solidFill>
                            <a:srgbClr val="0F172A"/>
                          </a:solidFill>
                          <a:latin typeface="Calibri"/>
                        </a:defRPr>
                      </a:pPr>
                      <a:r>
                        <a:t>Path compression &amp; rank Union-Find local splicing</a:t>
                      </a:r>
                    </a:p>
                  </a:txBody>
                  <a:tcPr>
                    <a:solidFill>
                      <a:srgbClr val="FFFFFF"/>
                    </a:solidFill>
                  </a:tcPr>
                </a:tc>
                <a:tc>
                  <a:txBody>
                    <a:bodyPr/>
                    <a:lstStyle/>
                    <a:p>
                      <a:pPr>
                        <a:defRPr sz="950" b="1">
                          <a:solidFill>
                            <a:srgbClr val="0D9488"/>
                          </a:solidFill>
                          <a:latin typeface="Calibri"/>
                        </a:defRPr>
                      </a:pPr>
                      <a:r>
                        <a:t>100% Completed</a:t>
                      </a:r>
                    </a:p>
                  </a:txBody>
                  <a:tcPr>
                    <a:solidFill>
                      <a:srgbClr val="F0FDFA"/>
                    </a:solidFill>
                  </a:tcPr>
                </a:tc>
                <a:tc>
                  <a:txBody>
                    <a:bodyPr/>
                    <a:lstStyle/>
                    <a:p>
                      <a:pPr>
                        <a:defRPr sz="950">
                          <a:solidFill>
                            <a:srgbClr val="0F172A"/>
                          </a:solidFill>
                          <a:latin typeface="Calibri"/>
                        </a:defRPr>
                      </a:pPr>
                      <a:r>
                        <a:t>6.02x latency speedup, 100% PDR sustained</a:t>
                      </a:r>
                    </a:p>
                  </a:txBody>
                  <a:tcPr>
                    <a:solidFill>
                      <a:srgbClr val="FFFFFF"/>
                    </a:solidFill>
                  </a:tcPr>
                </a:tc>
              </a:tr>
              <a:tr h="518160">
                <a:tc>
                  <a:txBody>
                    <a:bodyPr/>
                    <a:lstStyle/>
                    <a:p>
                      <a:pPr>
                        <a:defRPr sz="950">
                          <a:solidFill>
                            <a:srgbClr val="0F172A"/>
                          </a:solidFill>
                          <a:latin typeface="Calibri"/>
                        </a:defRPr>
                      </a:pPr>
                      <a:r>
                        <a:t>Dynamic Clustering</a:t>
                      </a:r>
                    </a:p>
                  </a:txBody>
                  <a:tcPr>
                    <a:solidFill>
                      <a:srgbClr val="F8FAFC"/>
                    </a:solidFill>
                  </a:tcPr>
                </a:tc>
                <a:tc>
                  <a:txBody>
                    <a:bodyPr/>
                    <a:lstStyle/>
                    <a:p>
                      <a:pPr>
                        <a:defRPr sz="950">
                          <a:solidFill>
                            <a:srgbClr val="0F172A"/>
                          </a:solidFill>
                          <a:latin typeface="Calibri"/>
                        </a:defRPr>
                      </a:pPr>
                      <a:r>
                        <a:t>EH-LEACH harvest-weighted threshold T(n)</a:t>
                      </a:r>
                    </a:p>
                  </a:txBody>
                  <a:tcPr>
                    <a:solidFill>
                      <a:srgbClr val="F8FAFC"/>
                    </a:solidFill>
                  </a:tcPr>
                </a:tc>
                <a:tc>
                  <a:txBody>
                    <a:bodyPr/>
                    <a:lstStyle/>
                    <a:p>
                      <a:pPr>
                        <a:defRPr sz="950" b="1">
                          <a:solidFill>
                            <a:srgbClr val="0D9488"/>
                          </a:solidFill>
                          <a:latin typeface="Calibri"/>
                        </a:defRPr>
                      </a:pPr>
                      <a:r>
                        <a:t>100% Completed</a:t>
                      </a:r>
                    </a:p>
                  </a:txBody>
                  <a:tcPr>
                    <a:solidFill>
                      <a:srgbClr val="F0FDFA"/>
                    </a:solidFill>
                  </a:tcPr>
                </a:tc>
                <a:tc>
                  <a:txBody>
                    <a:bodyPr/>
                    <a:lstStyle/>
                    <a:p>
                      <a:pPr>
                        <a:defRPr sz="950">
                          <a:solidFill>
                            <a:srgbClr val="0F172A"/>
                          </a:solidFill>
                          <a:latin typeface="Calibri"/>
                        </a:defRPr>
                      </a:pPr>
                      <a:r>
                        <a:t>src/clustering.py, 2.4x sunlit election boost</a:t>
                      </a:r>
                    </a:p>
                  </a:txBody>
                  <a:tcPr>
                    <a:solidFill>
                      <a:srgbClr val="F8FAFC"/>
                    </a:solidFill>
                  </a:tcPr>
                </a:tc>
              </a:tr>
              <a:tr h="518160">
                <a:tc>
                  <a:txBody>
                    <a:bodyPr/>
                    <a:lstStyle/>
                    <a:p>
                      <a:pPr>
                        <a:defRPr sz="950">
                          <a:solidFill>
                            <a:srgbClr val="0F172A"/>
                          </a:solidFill>
                          <a:latin typeface="Calibri"/>
                        </a:defRPr>
                      </a:pPr>
                      <a:r>
                        <a:t>Interactive Web Suite</a:t>
                      </a:r>
                    </a:p>
                  </a:txBody>
                  <a:tcPr>
                    <a:solidFill>
                      <a:srgbClr val="FFFFFF"/>
                    </a:solidFill>
                  </a:tcPr>
                </a:tc>
                <a:tc>
                  <a:txBody>
                    <a:bodyPr/>
                    <a:lstStyle/>
                    <a:p>
                      <a:pPr>
                        <a:defRPr sz="950">
                          <a:solidFill>
                            <a:srgbClr val="0F172A"/>
                          </a:solidFill>
                          <a:latin typeface="Calibri"/>
                        </a:defRPr>
                      </a:pPr>
                      <a:r>
                        <a:t>React 19 + FastAPI + SQLite persistence + SVG canvas</a:t>
                      </a:r>
                    </a:p>
                  </a:txBody>
                  <a:tcPr>
                    <a:solidFill>
                      <a:srgbClr val="FFFFFF"/>
                    </a:solidFill>
                  </a:tcPr>
                </a:tc>
                <a:tc>
                  <a:txBody>
                    <a:bodyPr/>
                    <a:lstStyle/>
                    <a:p>
                      <a:pPr>
                        <a:defRPr sz="950" b="1">
                          <a:solidFill>
                            <a:srgbClr val="0D9488"/>
                          </a:solidFill>
                          <a:latin typeface="Calibri"/>
                        </a:defRPr>
                      </a:pPr>
                      <a:r>
                        <a:t>100% Completed</a:t>
                      </a:r>
                    </a:p>
                  </a:txBody>
                  <a:tcPr>
                    <a:solidFill>
                      <a:srgbClr val="F0FDFA"/>
                    </a:solidFill>
                  </a:tcPr>
                </a:tc>
                <a:tc>
                  <a:txBody>
                    <a:bodyPr/>
                    <a:lstStyle/>
                    <a:p>
                      <a:pPr>
                        <a:defRPr sz="950">
                          <a:solidFill>
                            <a:srgbClr val="0F172A"/>
                          </a:solidFill>
                          <a:latin typeface="Calibri"/>
                        </a:defRPr>
                      </a:pPr>
                      <a:r>
                        <a:t>Production build verified; live scrubber &amp; heatmaps</a:t>
                      </a:r>
                    </a:p>
                  </a:txBody>
                  <a:tcPr>
                    <a:solidFill>
                      <a:srgbClr val="FFFFFF"/>
                    </a:solidFill>
                  </a:tcPr>
                </a:tc>
              </a:tr>
            </a:tbl>
          </a:graphicData>
        </a:graphic>
      </p:graphicFrame>
      <p:sp>
        <p:nvSpPr>
          <p:cNvPr id="8" name="Rounded Rectangle 7"/>
          <p:cNvSpPr/>
          <p:nvPr/>
        </p:nvSpPr>
        <p:spPr>
          <a:xfrm>
            <a:off x="731520" y="4754880"/>
            <a:ext cx="10728655" cy="13716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800600"/>
            <a:ext cx="10362895" cy="1280160"/>
          </a:xfrm>
          <a:prstGeom prst="rect">
            <a:avLst/>
          </a:prstGeom>
          <a:noFill/>
        </p:spPr>
        <p:txBody>
          <a:bodyPr wrap="square">
            <a:spAutoFit/>
          </a:bodyPr>
          <a:lstStyle/>
          <a:p>
            <a:pPr>
              <a:defRPr sz="1050" b="1">
                <a:solidFill>
                  <a:srgbClr val="2563EB"/>
                </a:solidFill>
                <a:latin typeface="Calibri"/>
              </a:defRPr>
            </a:pPr>
            <a:r>
              <a:t>NEXT STEPS &amp; PUBLICATION BLUEPRINT (2026-2027):</a:t>
            </a:r>
          </a:p>
          <a:p>
            <a:pPr>
              <a:defRPr sz="950">
                <a:solidFill>
                  <a:srgbClr val="0F172A"/>
                </a:solidFill>
                <a:latin typeface="Calibri"/>
              </a:defRPr>
            </a:pPr>
            <a:r>
              <a:t>- Journal Target: IEEE Sensors Journal (SCI Q1, IF: 4.3) or Elsevier Ad Hoc Networks (SCI Q1, IF: 4.8).</a:t>
            </a:r>
            <a:br/>
            <a:r>
              <a:t>- Manuscript Focus: 'Adaptive Lookahead Routing, First-Order Radio Dissipation Trade-Offs, and DSU-Based Live Detour Recovery in Energy-Harvesting Wireless Sensor Networks'.</a:t>
            </a:r>
            <a:br/>
            <a:r>
              <a:t>- Embedded Hardware Roadmap: Compiling algorithmic core into C/C++ firmware for hardware evaluation on physical ESP32 and MicaZ sensor motes.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731520"/>
            <a:ext cx="3291840" cy="320040"/>
          </a:xfrm>
          <a:prstGeom prst="roundRect">
            <a:avLst/>
          </a:prstGeom>
          <a:solidFill>
            <a:srgbClr val="112240"/>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D9488"/>
                </a:solidFill>
                <a:latin typeface="Calibri"/>
              </a:defRPr>
            </a:pPr>
            <a:r>
              <a:t>CAPSTONE DEFENSE CONCLUDED</a:t>
            </a:r>
          </a:p>
        </p:txBody>
      </p:sp>
      <p:sp>
        <p:nvSpPr>
          <p:cNvPr id="4" name="TextBox 3"/>
          <p:cNvSpPr txBox="1"/>
          <p:nvPr/>
        </p:nvSpPr>
        <p:spPr>
          <a:xfrm>
            <a:off x="914400" y="1188720"/>
            <a:ext cx="10362895" cy="1371600"/>
          </a:xfrm>
          <a:prstGeom prst="rect">
            <a:avLst/>
          </a:prstGeom>
          <a:noFill/>
        </p:spPr>
        <p:txBody>
          <a:bodyPr wrap="square">
            <a:spAutoFit/>
          </a:bodyPr>
          <a:lstStyle/>
          <a:p>
            <a:pPr>
              <a:defRPr sz="3400" b="1">
                <a:solidFill>
                  <a:srgbClr val="FFFFFF"/>
                </a:solidFill>
                <a:latin typeface="Calibri"/>
              </a:defRPr>
            </a:pPr>
            <a:r>
              <a:t>Thank You! We're Ready for Your Questions</a:t>
            </a:r>
          </a:p>
          <a:p>
            <a:pPr>
              <a:defRPr sz="1400">
                <a:solidFill>
                  <a:srgbClr val="94A3B8"/>
                </a:solidFill>
                <a:latin typeface="Calibri"/>
              </a:defRPr>
            </a:pPr>
            <a:r>
              <a:t>Adaptive Routing in Energy-Harvesting Wireless Sensor Networks</a:t>
            </a:r>
          </a:p>
        </p:txBody>
      </p:sp>
      <p:sp>
        <p:nvSpPr>
          <p:cNvPr id="5" name="Rounded Rectangle 4"/>
          <p:cNvSpPr/>
          <p:nvPr/>
        </p:nvSpPr>
        <p:spPr>
          <a:xfrm>
            <a:off x="914400" y="2743200"/>
            <a:ext cx="502920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300" b="1">
                <a:solidFill>
                  <a:srgbClr val="0D9488"/>
                </a:solidFill>
                <a:latin typeface="Calibri"/>
              </a:defRPr>
            </a:pPr>
            <a:r>
              <a:t>Lookahead 3D DP</a:t>
            </a:r>
          </a:p>
          <a:p>
            <a:pPr>
              <a:spcBef>
                <a:spcPts val="400"/>
              </a:spcBef>
              <a:defRPr sz="1000">
                <a:solidFill>
                  <a:srgbClr val="CBD5E1"/>
                </a:solidFill>
                <a:latin typeface="Calibri"/>
              </a:defRPr>
            </a:pPr>
            <a:r>
              <a:t>Stops the False Alarm of skipping recharging sensors, running in O(|E|HT) polynomial time under 48 KB RAM.</a:t>
            </a:r>
          </a:p>
        </p:txBody>
      </p:sp>
      <p:sp>
        <p:nvSpPr>
          <p:cNvPr id="6" name="Rounded Rectangle 5"/>
          <p:cNvSpPr/>
          <p:nvPr/>
        </p:nvSpPr>
        <p:spPr>
          <a:xfrm>
            <a:off x="6217920" y="2743200"/>
            <a:ext cx="502920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300" b="1">
                <a:solidFill>
                  <a:srgbClr val="2563EB"/>
                </a:solidFill>
                <a:latin typeface="Calibri"/>
              </a:defRPr>
            </a:pPr>
            <a:r>
              <a:t>6.02x Faster DSU Repairs</a:t>
            </a:r>
          </a:p>
          <a:p>
            <a:pPr>
              <a:spcBef>
                <a:spcPts val="400"/>
              </a:spcBef>
              <a:defRPr sz="1000">
                <a:solidFill>
                  <a:srgbClr val="CBD5E1"/>
                </a:solidFill>
                <a:latin typeface="Calibri"/>
              </a:defRPr>
            </a:pPr>
            <a:r>
              <a:t>Saves packets in 0.85 ms using Union-Find when relays die mid-flight, sustaining 100% delivery.</a:t>
            </a:r>
          </a:p>
        </p:txBody>
      </p:sp>
      <p:sp>
        <p:nvSpPr>
          <p:cNvPr id="7" name="Rounded Rectangle 6"/>
          <p:cNvSpPr/>
          <p:nvPr/>
        </p:nvSpPr>
        <p:spPr>
          <a:xfrm>
            <a:off x="914400" y="4389120"/>
            <a:ext cx="502920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300" b="1">
                <a:solidFill>
                  <a:srgbClr val="D97706"/>
                </a:solidFill>
                <a:latin typeface="Calibri"/>
              </a:defRPr>
            </a:pPr>
            <a:r>
              <a:t>Caught the Receiver Tax</a:t>
            </a:r>
          </a:p>
          <a:p>
            <a:pPr>
              <a:spcBef>
                <a:spcPts val="400"/>
              </a:spcBef>
              <a:defRPr sz="1000">
                <a:solidFill>
                  <a:srgbClr val="CBD5E1"/>
                </a:solidFill>
                <a:latin typeface="Calibri"/>
              </a:defRPr>
            </a:pPr>
            <a:r>
              <a:t>Proved multi-hop relaying burns ~2x more energy under 87.7m unless sustained by solar recharge.</a:t>
            </a:r>
          </a:p>
        </p:txBody>
      </p:sp>
      <p:sp>
        <p:nvSpPr>
          <p:cNvPr id="8" name="Rounded Rectangle 7"/>
          <p:cNvSpPr/>
          <p:nvPr/>
        </p:nvSpPr>
        <p:spPr>
          <a:xfrm>
            <a:off x="6217920" y="4389120"/>
            <a:ext cx="502920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300" b="1">
                <a:solidFill>
                  <a:srgbClr val="FFFFFF"/>
                </a:solidFill>
                <a:latin typeface="Calibri"/>
              </a:defRPr>
            </a:pPr>
            <a:r>
              <a:t>Full-Stack Tested Platform</a:t>
            </a:r>
          </a:p>
          <a:p>
            <a:pPr>
              <a:spcBef>
                <a:spcPts val="400"/>
              </a:spcBef>
              <a:defRPr sz="1000">
                <a:solidFill>
                  <a:srgbClr val="CBD5E1"/>
                </a:solidFill>
                <a:latin typeface="Calibri"/>
              </a:defRPr>
            </a:pPr>
            <a:r>
              <a:t>React 19 interactive SVG canvas, FastAPI service, and 68/68 passing tests ready for real motes.</a:t>
            </a:r>
          </a:p>
        </p:txBody>
      </p:sp>
      <p:sp>
        <p:nvSpPr>
          <p:cNvPr id="9" name="TextBox 8"/>
          <p:cNvSpPr txBox="1"/>
          <p:nvPr/>
        </p:nvSpPr>
        <p:spPr>
          <a:xfrm>
            <a:off x="914400" y="6035040"/>
            <a:ext cx="10362895" cy="457200"/>
          </a:xfrm>
          <a:prstGeom prst="rect">
            <a:avLst/>
          </a:prstGeom>
          <a:noFill/>
        </p:spPr>
        <p:txBody>
          <a:bodyPr wrap="none">
            <a:spAutoFit/>
          </a:bodyPr>
          <a:lstStyle/>
          <a:p>
            <a:pPr>
              <a:defRPr sz="1000">
                <a:solidFill>
                  <a:srgbClr val="94A3B8"/>
                </a:solidFill>
                <a:latin typeface="Calibri"/>
              </a:defRPr>
            </a:pPr>
            <a:r>
              <a:t>Presenters: Santhosh G (25BEL0016), Thilang T V (25BEL0036), Ananthakrishnan R (25BEL0005)  |  VIT Vellore  |  GitHub: WSN_proj</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